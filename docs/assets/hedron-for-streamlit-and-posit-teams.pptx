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f6696a111a419b" /><Relationship Type="http://schemas.openxmlformats.org/officeDocument/2006/relationships/extended-properties" Target="/docProps/app.xml" Id="R448c1559cbfd4fda" /><Relationship Type="http://schemas.openxmlformats.org/officeDocument/2006/relationships/officeDocument" Target="/ppt/presentation.xml" Id="Rb989b4c1d52b456d" /></Relationships>
</file>

<file path=ppt/presentation.xml><?xml version="1.0" encoding="utf-8"?>
<p:presentation xmlns:p="http://schemas.openxmlformats.org/presentationml/2006/main">
  <p:sldMasterIdLst>
    <p:sldMasterId xmlns:r="http://schemas.openxmlformats.org/officeDocument/2006/relationships" id="2147483648" r:id="R98c62d79a502489b"/>
  </p:sldMasterIdLst>
  <p:notesMasterIdLst>
    <p:notesMasterId xmlns:r="http://schemas.openxmlformats.org/officeDocument/2006/relationships" r:id="Rce56f2c4ed084a04"/>
  </p:notesMasterIdLst>
  <p:sldIdLst>
    <p:sldId xmlns:r="http://schemas.openxmlformats.org/officeDocument/2006/relationships" id="256" r:id="R3f57241f901c4074"/>
    <p:sldId xmlns:r="http://schemas.openxmlformats.org/officeDocument/2006/relationships" id="257" r:id="R9c08efde611e41df"/>
    <p:sldId xmlns:r="http://schemas.openxmlformats.org/officeDocument/2006/relationships" id="258" r:id="Re321d29640b242ed"/>
    <p:sldId xmlns:r="http://schemas.openxmlformats.org/officeDocument/2006/relationships" id="259" r:id="R77b2991480ab4fd9"/>
    <p:sldId xmlns:r="http://schemas.openxmlformats.org/officeDocument/2006/relationships" id="260" r:id="Rdd1ca57ba6524af4"/>
    <p:sldId xmlns:r="http://schemas.openxmlformats.org/officeDocument/2006/relationships" id="261" r:id="R34d9f6c606184c21"/>
    <p:sldId xmlns:r="http://schemas.openxmlformats.org/officeDocument/2006/relationships" id="262" r:id="Rcf573339b4af45fd"/>
    <p:sldId xmlns:r="http://schemas.openxmlformats.org/officeDocument/2006/relationships" id="263" r:id="R58d64ac652ae46db"/>
    <p:sldId xmlns:r="http://schemas.openxmlformats.org/officeDocument/2006/relationships" id="264" r:id="R7e006456f85043f9"/>
    <p:sldId xmlns:r="http://schemas.openxmlformats.org/officeDocument/2006/relationships" id="265" r:id="R26c3d056fbcb41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c0f1d3758e4af0" /><Relationship Type="http://schemas.openxmlformats.org/officeDocument/2006/relationships/slideMaster" Target="/ppt/slideMasters/slideMaster1.xml" Id="R98c62d79a502489b" /><Relationship Type="http://schemas.openxmlformats.org/officeDocument/2006/relationships/notesMaster" Target="/ppt/notesMasters/notesMaster1.xml" Id="Rce56f2c4ed084a04" /><Relationship Type="http://schemas.openxmlformats.org/officeDocument/2006/relationships/presProps" Target="/ppt/presProps.xml" Id="R7639642dfb7045ff" /><Relationship Type="http://schemas.openxmlformats.org/officeDocument/2006/relationships/tableStyles" Target="/ppt/tableStyles.xml" Id="R0d9a30c354764972" /><Relationship Type="http://schemas.openxmlformats.org/officeDocument/2006/relationships/slide" Target="/ppt/slides/slide1.xml" Id="R3f57241f901c4074" /><Relationship Type="http://schemas.openxmlformats.org/officeDocument/2006/relationships/slide" Target="/ppt/slides/slide2.xml" Id="R9c08efde611e41df" /><Relationship Type="http://schemas.openxmlformats.org/officeDocument/2006/relationships/slide" Target="/ppt/slides/slide3.xml" Id="Re321d29640b242ed" /><Relationship Type="http://schemas.openxmlformats.org/officeDocument/2006/relationships/slide" Target="/ppt/slides/slide4.xml" Id="R77b2991480ab4fd9" /><Relationship Type="http://schemas.openxmlformats.org/officeDocument/2006/relationships/slide" Target="/ppt/slides/slide5.xml" Id="Rdd1ca57ba6524af4" /><Relationship Type="http://schemas.openxmlformats.org/officeDocument/2006/relationships/slide" Target="/ppt/slides/slide6.xml" Id="R34d9f6c606184c21" /><Relationship Type="http://schemas.openxmlformats.org/officeDocument/2006/relationships/slide" Target="/ppt/slides/slide7.xml" Id="Rcf573339b4af45fd" /><Relationship Type="http://schemas.openxmlformats.org/officeDocument/2006/relationships/slide" Target="/ppt/slides/slide8.xml" Id="R58d64ac652ae46db" /><Relationship Type="http://schemas.openxmlformats.org/officeDocument/2006/relationships/slide" Target="/ppt/slides/slide9.xml" Id="R7e006456f85043f9" /><Relationship Type="http://schemas.openxmlformats.org/officeDocument/2006/relationships/slide" Target="/ppt/slides/slide10.xml" Id="R26c3d056fbcb41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337822dbfd46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bc70de86e24f02" /><Relationship Type="http://schemas.openxmlformats.org/officeDocument/2006/relationships/notesMaster" Target="/ppt/notesMasters/notesMaster1.xml" Id="Rd8cf6f1de0a343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eaca20ef134315" /><Relationship Type="http://schemas.openxmlformats.org/officeDocument/2006/relationships/notesMaster" Target="/ppt/notesMasters/notesMaster1.xml" Id="R13c9706a200e4e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f5353d9c144ab3" /><Relationship Type="http://schemas.openxmlformats.org/officeDocument/2006/relationships/notesMaster" Target="/ppt/notesMasters/notesMaster1.xml" Id="R0b7570912b0547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1fc81ee89f4447" /><Relationship Type="http://schemas.openxmlformats.org/officeDocument/2006/relationships/notesMaster" Target="/ppt/notesMasters/notesMaster1.xml" Id="Rd0776509bf3948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a41619682043a0" /><Relationship Type="http://schemas.openxmlformats.org/officeDocument/2006/relationships/notesMaster" Target="/ppt/notesMasters/notesMaster1.xml" Id="R301596deb9844d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fddfbb699d47f5" /><Relationship Type="http://schemas.openxmlformats.org/officeDocument/2006/relationships/notesMaster" Target="/ppt/notesMasters/notesMaster1.xml" Id="R9bef6ea6ea6c46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c2e5b0d6054877" /><Relationship Type="http://schemas.openxmlformats.org/officeDocument/2006/relationships/notesMaster" Target="/ppt/notesMasters/notesMaster1.xml" Id="R423aaeec51d64d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29756af69b4d52" /><Relationship Type="http://schemas.openxmlformats.org/officeDocument/2006/relationships/notesMaster" Target="/ppt/notesMasters/notesMaster1.xml" Id="R05da968b55ba44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4478f59c1448b1" /><Relationship Type="http://schemas.openxmlformats.org/officeDocument/2006/relationships/notesMaster" Target="/ppt/notesMasters/notesMaster1.xml" Id="Rf5bff370ce6140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d2ad3755734edc" /><Relationship Type="http://schemas.openxmlformats.org/officeDocument/2006/relationships/notesMaster" Target="/ppt/notesMasters/notesMaster1.xml" Id="R04db5a09b33c42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audience's context: many teams already write Python analyses and Streamlit apps inside Posit. Hedron is a way to build a maintained web application in the same Python and FastAPI ecosystem. The right-hand image is the repository's synthetic Hedron Showcase, not a production government system. Preview the three questions this talk answers: what Hedron is, how requests work, and how development in Workbench leads to a Connect deployment.</a:t>
            </a:r>
          </a:p>
          <a:p xmlns:a="http://schemas.openxmlformats.org/drawingml/2006/main">
            <a:r>
              <a:t/>
            </a:r>
          </a:p>
          <a:p xmlns:a="http://schemas.openxmlformats.org/drawingml/2006/main">
            <a:r>
              <a:t>Sources:</a:t>
            </a:r>
          </a:p>
          <a:p xmlns:a="http://schemas.openxmlformats.org/drawingml/2006/main">
            <a:r>
              <a:t>- repo README.md at 6805f107</a:t>
            </a:r>
          </a:p>
          <a:p xmlns:a="http://schemas.openxmlformats.org/drawingml/2006/main">
            <a:r>
              <a:t>- repo docs/assets/hedron-showcase.jpg (synthetic showcase)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Hedron in one sentence. It lets Python teams compose pages, forms, tables and interactions without a separate frontend application. It stays within FastAPI, so ordinary JSON endpoints, middleware, dependencies and OpenAPI can coexist. HTML is rendered on the server. HTMX is used for targeted requests and fragment updates. Alpine is used for browser-local presentation state such as a disclosure or menu. Avoid implying there is zero JavaScript in the browser: Hedron ships browser assets; application authors generally do not need a Node build for the basic path.</a:t>
            </a:r>
          </a:p>
          <a:p xmlns:a="http://schemas.openxmlformats.org/drawingml/2006/main">
            <a:r>
              <a:t/>
            </a:r>
          </a:p>
          <a:p xmlns:a="http://schemas.openxmlformats.org/drawingml/2006/main">
            <a:r>
              <a:t>Sources:</a:t>
            </a:r>
          </a:p>
          <a:p xmlns:a="http://schemas.openxmlformats.org/drawingml/2006/main">
            <a:r>
              <a:t>- repo README.md</a:t>
            </a:r>
          </a:p>
          <a:p xmlns:a="http://schemas.openxmlformats.org/drawingml/2006/main">
            <a:r>
              <a:t>- repo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default mental model with one action: a user changes a filter. In a typical Streamlit app, the script reruns, although modern Streamlit has forms and fragments that can batch inputs or rerun only a portion. In Hedron, the filter arrives as a query or form value at a specific route. That route validates the input, calls Python domain code, and returns a full page or an HTML fragment. The distinction matters for code ownership, tests, URLs, caching and side effects. Do not claim Hedron is universally faster; performance depends on application design and deployment.</a:t>
            </a:r>
          </a:p>
          <a:p xmlns:a="http://schemas.openxmlformats.org/drawingml/2006/main">
            <a:r>
              <a:t/>
            </a:r>
          </a:p>
          <a:p xmlns:a="http://schemas.openxmlformats.org/drawingml/2006/main">
            <a:r>
              <a:t>Sources:</a:t>
            </a:r>
          </a:p>
          <a:p xmlns:a="http://schemas.openxmlformats.org/drawingml/2006/main">
            <a:r>
              <a:t>- https://docs.streamlit.io/develop/api-reference/execution-flow</a:t>
            </a:r>
          </a:p>
          <a:p xmlns:a="http://schemas.openxmlformats.org/drawingml/2006/main">
            <a:r>
              <a:t>- https://docs.streamlit.io/develop/concepts/architecture/forms</a:t>
            </a:r>
          </a:p>
          <a:p xmlns:a="http://schemas.openxmlformats.org/drawingml/2006/main">
            <a:r>
              <a:t>- https://docs.streamlit.io/develop/concepts/architecture/fragments</a:t>
            </a:r>
          </a:p>
          <a:p xmlns:a="http://schemas.openxmlformats.org/drawingml/2006/main">
            <a:r>
              <a:t>- repo docs/guides/streamlit-execution-state.md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a request. Browser traffic enters the usual FastAPI and Starlette stack. A Hedron route uses FastAPI parsing and dependency injection. Application services read data or perform authorized work. Hedron core builds and escapes HTML. A normal navigation returns a full document; an HTMX request can return a fragment for a declared target. A component alone is never automatically exposed as a route. Mention that the database, queue and authorization decisions belong to the application, not to Hedron.</a:t>
            </a:r>
          </a:p>
          <a:p xmlns:a="http://schemas.openxmlformats.org/drawingml/2006/main">
            <a:r>
              <a:t/>
            </a:r>
          </a:p>
          <a:p xmlns:a="http://schemas.openxmlformats.org/drawingml/2006/main">
            <a:r>
              <a:t>Sources:</a:t>
            </a:r>
          </a:p>
          <a:p xmlns:a="http://schemas.openxmlformats.org/drawingml/2006/main">
            <a:r>
              <a:t>- repo docs/ARCHITECTURE.md</a:t>
            </a:r>
          </a:p>
          <a:p xmlns:a="http://schemas.openxmlformats.org/drawingml/2006/main">
            <a:r>
              <a:t>- repo openwiki/architecture/requests-and-interactions.md</a:t>
            </a:r>
          </a:p>
          <a:p xmlns:a="http://schemas.openxmlformats.org/drawingml/2006/main">
            <a:r>
              <a:t>- repo packages/hedron/src/hedron/routing/route.py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only three lines: HedronPosit creates one app that also works outside Posit; @app.view names an independently requestable region; @app.page provides the initial page. The refresh button asks the view for new HTML, so there is no application script rerun. The screenshot is from the repository's basic refresh example. The code reads the session secret from an environment variable; in deployment, supply this through the approved platform secret mechanism. If a developer asks, HedronPosit is the preferred Posit facade and the regular Hedron class remains available for other hosts.</a:t>
            </a:r>
          </a:p>
          <a:p xmlns:a="http://schemas.openxmlformats.org/drawingml/2006/main">
            <a:r>
              <a:t/>
            </a:r>
          </a:p>
          <a:p xmlns:a="http://schemas.openxmlformats.org/drawingml/2006/main">
            <a:r>
              <a:t>Sources:</a:t>
            </a:r>
          </a:p>
          <a:p xmlns:a="http://schemas.openxmlformats.org/drawingml/2006/main">
            <a:r>
              <a:t>- repo README.md</a:t>
            </a:r>
          </a:p>
          <a:p xmlns:a="http://schemas.openxmlformats.org/drawingml/2006/main">
            <a:r>
              <a:t>- repo docs/guides/posit.md</a:t>
            </a:r>
          </a:p>
          <a:p xmlns:a="http://schemas.openxmlformats.org/drawingml/2006/main">
            <a:r>
              <a:t>- repo examples/workbench-reference/app_facade.py</a:t>
            </a:r>
          </a:p>
          <a:p xmlns:a="http://schemas.openxmlformats.org/drawingml/2006/main">
            <a:r>
              <a:t>- repo docs/assets/hello-refresh.jpg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 to the data engineers and visualization developers. The sample Streamlit migration retains the calculation and data model, while its controls become typed query parameters and a GET form. The first-party data, chart and map packages are available, but the team should check the feature matrix for any specialized Streamlit widget or third-party component. Hedron does not supply an ORM or managed data service. Mention that FastAPI JSON endpoints can remain in the same app for other clients.</a:t>
            </a:r>
          </a:p>
          <a:p xmlns:a="http://schemas.openxmlformats.org/drawingml/2006/main">
            <a:r>
              <a:t/>
            </a:r>
          </a:p>
          <a:p xmlns:a="http://schemas.openxmlformats.org/drawingml/2006/main">
            <a:r>
              <a:t>Sources:</a:t>
            </a:r>
          </a:p>
          <a:p xmlns:a="http://schemas.openxmlformats.org/drawingml/2006/main">
            <a:r>
              <a:t>- repo README.md</a:t>
            </a:r>
          </a:p>
          <a:p xmlns:a="http://schemas.openxmlformats.org/drawingml/2006/main">
            <a:r>
              <a:t>- repo examples/streamlit-migration/app.py</a:t>
            </a:r>
          </a:p>
          <a:p xmlns:a="http://schemas.openxmlformats.org/drawingml/2006/main">
            <a:r>
              <a:t>- repo docs/guides/streamlit-migration-matrix.md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Workbench is the development environment. A developer starts VS Code or another approved IDE on the remote host, installs the project into a virtual environment, and runs hedron-posit run app:app. The Posit adapter discovers and validates the Workbench session mount before importing the app, then scopes URLs, assets and owned cookies. The app appears through Workbench's proxied servers feature. Avoid hard-coding a /s/.../p/... path or assuming port 8000. The session URL is not a durable sharing link. Repo support is verified for Workbench 2025.05.1 through 2026.07.0; check the support matrix for the organization's installed version.</a:t>
            </a:r>
          </a:p>
          <a:p xmlns:a="http://schemas.openxmlformats.org/drawingml/2006/main">
            <a:r>
              <a:t/>
            </a:r>
          </a:p>
          <a:p xmlns:a="http://schemas.openxmlformats.org/drawingml/2006/main">
            <a:r>
              <a:t>Sources:</a:t>
            </a:r>
          </a:p>
          <a:p xmlns:a="http://schemas.openxmlformats.org/drawingml/2006/main">
            <a:r>
              <a:t>- repo docs/guides/posit-workbench.md</a:t>
            </a:r>
          </a:p>
          <a:p xmlns:a="http://schemas.openxmlformats.org/drawingml/2006/main">
            <a:r>
              <a:t>- repo docs/getting-started/first-app-posit-workbench.md</a:t>
            </a:r>
          </a:p>
          <a:p xmlns:a="http://schemas.openxmlformats.org/drawingml/2006/main">
            <a:r>
              <a:t>- https://docs.posit.co/ide/server-pro/user/vs-code/guide/proxying-web-servers.html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HedronPosit application object can run locally, inside Workbench and as a Posit Connect content item. Connect's official FastAPI publishing workflow uses rsconnect deploy fastapi and an app:app entrypoint. Install hedron-posit into the content environment; the repository explicitly warns against merely copying its source on Connect 2025.06. Configure the app session secret through approved secret handling. Connect provides a durable published content URL and content access controls. The application must still authorize actions and data. The repo's native Connect GUID mode is supported on 2025.06.0 through 2026.07.0; newer versions require validation before making a support claim.</a:t>
            </a:r>
          </a:p>
          <a:p xmlns:a="http://schemas.openxmlformats.org/drawingml/2006/main">
            <a:r>
              <a:t/>
            </a:r>
          </a:p>
          <a:p xmlns:a="http://schemas.openxmlformats.org/drawingml/2006/main">
            <a:r>
              <a:t>Sources:</a:t>
            </a:r>
          </a:p>
          <a:p xmlns:a="http://schemas.openxmlformats.org/drawingml/2006/main">
            <a:r>
              <a:t>- https://docs.posit.co/connect/user/fastapi/</a:t>
            </a:r>
          </a:p>
          <a:p xmlns:a="http://schemas.openxmlformats.org/drawingml/2006/main">
            <a:r>
              <a:t>- https://docs.posit.co/connect/user/publishing-cli-apps/</a:t>
            </a:r>
          </a:p>
          <a:p xmlns:a="http://schemas.openxmlformats.org/drawingml/2006/main">
            <a:r>
              <a:t>- repo docs/guides/posit.md</a:t>
            </a:r>
          </a:p>
          <a:p xmlns:a="http://schemas.openxmlformats.org/drawingml/2006/main">
            <a:r>
              <a:t>- repo packages/hedron-posit/README.md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slide for a government audience. Hedron offers useful controls but does not certify an application or replace agency review. Its framework handles escaping and typed trust markers, and its configured security profiles handle CSRF and fragment target policy. The application must implement authentication integration, authorization of every protected route and row, data retention, tenancy, audit storage, secrets and deployment controls. A user being signed in to Workbench or Connect is not automatically an application identity or authorization decision. Avoid implying Hedron itself has a federal authorization or security certification.</a:t>
            </a:r>
          </a:p>
          <a:p xmlns:a="http://schemas.openxmlformats.org/drawingml/2006/main">
            <a:r>
              <a:t/>
            </a:r>
          </a:p>
          <a:p xmlns:a="http://schemas.openxmlformats.org/drawingml/2006/main">
            <a:r>
              <a:t>Sources:</a:t>
            </a:r>
          </a:p>
          <a:p xmlns:a="http://schemas.openxmlformats.org/drawingml/2006/main">
            <a:r>
              <a:t>- repo docs/ARCHITECTURE.md</a:t>
            </a:r>
          </a:p>
          <a:p xmlns:a="http://schemas.openxmlformats.org/drawingml/2006/main">
            <a:r>
              <a:t>- repo docs/guides/posit.md</a:t>
            </a:r>
          </a:p>
          <a:p xmlns:a="http://schemas.openxmlformats.org/drawingml/2006/main">
            <a:r>
              <a:t>- repo docs/guides/streamlit-cutover.md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 a bounded pilot rather than a wholesale replacement. Choose a small but real maintained app: enough routes, filters and one write path to expose architectural benefits, but no highly specialized Streamlit component dependency. Define acceptance criteria with stakeholders: users can complete the same tasks, the app follows agency authorization and secret handling, the team can test it at the HTTP boundary, and operations can publish and roll it back on Connect. Streamlit remains the right tool for some short-lived analyses and notebook-style dashboards. The current Hedron docs explicitly say this.</a:t>
            </a:r>
          </a:p>
          <a:p xmlns:a="http://schemas.openxmlformats.org/drawingml/2006/main">
            <a:r>
              <a:t/>
            </a:r>
          </a:p>
          <a:p xmlns:a="http://schemas.openxmlformats.org/drawingml/2006/main">
            <a:r>
              <a:t>Sources:</a:t>
            </a:r>
          </a:p>
          <a:p xmlns:a="http://schemas.openxmlformats.org/drawingml/2006/main">
            <a:r>
              <a:t>- repo docs/guides/why-hedron.md</a:t>
            </a:r>
          </a:p>
          <a:p xmlns:a="http://schemas.openxmlformats.org/drawingml/2006/main">
            <a:r>
              <a:t>- repo docs/guides/streamlit-migration.md</a:t>
            </a:r>
          </a:p>
          <a:p xmlns:a="http://schemas.openxmlformats.org/drawingml/2006/main">
            <a:r>
              <a:t>- repo docs/guides/training-streamlit-to-hedron-posit.md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223ebee7174d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e42fd0fdfa4dc5" /><Relationship Type="http://schemas.openxmlformats.org/officeDocument/2006/relationships/slideLayout" Target="/ppt/slideLayouts/slideLayout1.xml" Id="R35ad76721e8e48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ad76721e8e48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1105ecd967484c" /><Relationship Type="http://schemas.openxmlformats.org/officeDocument/2006/relationships/image" Target="/ppt/media/image.jpeg" Id="R5fd119e053b64f9d" /><Relationship Type="http://schemas.openxmlformats.org/officeDocument/2006/relationships/notesSlide" Target="/ppt/notesSlides/notesSlide1.xml" Id="R351dd854feb147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8b3d048f164d7f" /><Relationship Type="http://schemas.openxmlformats.org/officeDocument/2006/relationships/notesSlide" Target="/ppt/notesSlides/notesSlide2.xml" Id="R174ddb01bae54d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f380cb0b6a47de" /><Relationship Type="http://schemas.openxmlformats.org/officeDocument/2006/relationships/notesSlide" Target="/ppt/notesSlides/notesSlide3.xml" Id="Rd4fe9cf047964e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5ba2f44f4b40e3" /><Relationship Type="http://schemas.openxmlformats.org/officeDocument/2006/relationships/notesSlide" Target="/ppt/notesSlides/notesSlide4.xml" Id="R2bcacd97b8754e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390eaf62c7462a" /><Relationship Type="http://schemas.openxmlformats.org/officeDocument/2006/relationships/image" Target="/ppt/media/image2.jpeg" Id="R936d010b08b7418b" /><Relationship Type="http://schemas.openxmlformats.org/officeDocument/2006/relationships/notesSlide" Target="/ppt/notesSlides/notesSlide5.xml" Id="R4d1aca52b9ff4f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95ee582fad4ba0" /><Relationship Type="http://schemas.openxmlformats.org/officeDocument/2006/relationships/notesSlide" Target="/ppt/notesSlides/notesSlide6.xml" Id="R54d441ddf71044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524cdd954d4fe3" /><Relationship Type="http://schemas.openxmlformats.org/officeDocument/2006/relationships/notesSlide" Target="/ppt/notesSlides/notesSlide7.xml" Id="R9d430b8cb48e4d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ddd18a2c0e47ba" /><Relationship Type="http://schemas.openxmlformats.org/officeDocument/2006/relationships/notesSlide" Target="/ppt/notesSlides/notesSlide8.xml" Id="Rd43c1854d82648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c6095a9e2d4b04" /><Relationship Type="http://schemas.openxmlformats.org/officeDocument/2006/relationships/notesSlide" Target="/ppt/notesSlides/notesSlide9.xml" Id="Rf7c817769b2348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cde02810fa4441" /><Relationship Type="http://schemas.openxmlformats.org/officeDocument/2006/relationships/notesSlide" Target="/ppt/notesSlides/notesSlide10.xml" Id="R942273a81f934e2f" /></Relationships>
</file>

<file path=ppt/slides/slide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cover-brand">
            <a:extLst xmlns:a="http://schemas.openxmlformats.org/drawingml/2006/main">
              <a:ext uri="{FF2B5EF4-FFF2-40B4-BE49-F238E27FC236}">
                <a16:creationId xmlns:a16="http://schemas.microsoft.com/office/drawing/2014/main" id="{8B4DEB38-DFDC-400F-9729-C2EAC4556EEA}"/>
              </a:ext>
            </a:extLst>
          </p:cNvPr>
          <p:cNvSpPr>
            <a:spLocks xmlns:a="http://schemas.openxmlformats.org/drawingml/2006/main" noGrp="1"/>
          </p:cNvSpPr>
          <p:nvPr/>
        </p:nvSpPr>
        <p:spPr>
          <a:xfrm xmlns:a="http://schemas.openxmlformats.org/drawingml/2006/main">
            <a:off x="647700" y="514350"/>
            <a:ext cx="500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17645E"/>
                </a:solidFill>
                <a:latin typeface="Arial"/>
                <a:ea typeface="Arial"/>
                <a:cs typeface="Arial"/>
              </a:defRPr>
            </a:pPr>
            <a:r>
              <a:rPr sz="1650" b="1" i="0">
                <a:solidFill>
                  <a:srgbClr val="17645E"/>
                </a:solidFill>
                <a:latin typeface="Arial"/>
                <a:ea typeface="Arial"/>
                <a:cs typeface="Arial"/>
              </a:rPr>
              <a:t>HEDRON</a:t>
            </a:r>
          </a:p>
        </p:txBody>
      </p:sp>
      <p:sp>
        <p:nvSpPr>
          <p:cNvPr id="2" name="cover-title">
            <a:extLst xmlns:a="http://schemas.openxmlformats.org/drawingml/2006/main">
              <a:ext uri="{FF2B5EF4-FFF2-40B4-BE49-F238E27FC236}">
                <a16:creationId xmlns:a16="http://schemas.microsoft.com/office/drawing/2014/main" id="{62332862-616E-4B93-84B5-D37067F9DEEC}"/>
              </a:ext>
            </a:extLst>
          </p:cNvPr>
          <p:cNvSpPr>
            <a:spLocks xmlns:a="http://schemas.openxmlformats.org/drawingml/2006/main" noGrp="1"/>
          </p:cNvSpPr>
          <p:nvPr/>
        </p:nvSpPr>
        <p:spPr>
          <a:xfrm xmlns:a="http://schemas.openxmlformats.org/drawingml/2006/main">
            <a:off x="647700" y="1552575"/>
            <a:ext cx="59055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500" b="0" i="0">
                <a:solidFill>
                  <a:srgbClr val="193A37"/>
                </a:solidFill>
                <a:latin typeface="Georgia"/>
                <a:ea typeface="Georgia"/>
                <a:cs typeface="Georgia"/>
              </a:defRPr>
            </a:pPr>
            <a:r>
              <a:rPr sz="4500" b="0" i="0">
                <a:solidFill>
                  <a:srgbClr val="193A37"/>
                </a:solidFill>
                <a:latin typeface="Georgia"/>
                <a:ea typeface="Georgia"/>
                <a:cs typeface="Georgia"/>
              </a:rPr>
              <a:t>Python interfaces</a:t>
            </a:r>
          </a:p>
          <a:p xmlns:a="http://schemas.openxmlformats.org/drawingml/2006/main">
            <a:pPr algn="l">
              <a:lnSpc>
                <a:spcPct val="96000"/>
              </a:lnSpc>
              <a:buNone/>
              <a:defRPr sz="4500" b="0" i="0">
                <a:solidFill>
                  <a:srgbClr val="193A37"/>
                </a:solidFill>
                <a:latin typeface="Georgia"/>
                <a:ea typeface="Georgia"/>
                <a:cs typeface="Georgia"/>
              </a:defRPr>
            </a:pPr>
            <a:r>
              <a:rPr sz="4500" b="0" i="0">
                <a:solidFill>
                  <a:srgbClr val="193A37"/>
                </a:solidFill>
                <a:latin typeface="Georgia"/>
                <a:ea typeface="Georgia"/>
                <a:cs typeface="Georgia"/>
              </a:rPr>
              <a:t>for data work</a:t>
            </a:r>
          </a:p>
        </p:txBody>
      </p:sp>
      <p:sp>
        <p:nvSpPr>
          <p:cNvPr id="3" name="cover-sub">
            <a:extLst xmlns:a="http://schemas.openxmlformats.org/drawingml/2006/main">
              <a:ext uri="{FF2B5EF4-FFF2-40B4-BE49-F238E27FC236}">
                <a16:creationId xmlns:a16="http://schemas.microsoft.com/office/drawing/2014/main" id="{E76AF242-9355-4A25-8A87-048ADD386973}"/>
              </a:ext>
            </a:extLst>
          </p:cNvPr>
          <p:cNvSpPr>
            <a:spLocks xmlns:a="http://schemas.openxmlformats.org/drawingml/2006/main" noGrp="1"/>
          </p:cNvSpPr>
          <p:nvPr/>
        </p:nvSpPr>
        <p:spPr>
          <a:xfrm xmlns:a="http://schemas.openxmlformats.org/drawingml/2006/main">
            <a:off x="666750" y="4000500"/>
            <a:ext cx="56673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0" i="0">
                <a:solidFill>
                  <a:srgbClr val="52645F"/>
                </a:solidFill>
                <a:latin typeface="Arial"/>
                <a:ea typeface="Arial"/>
                <a:cs typeface="Arial"/>
              </a:defRPr>
            </a:pPr>
            <a:r>
              <a:rPr sz="2100" b="0" i="0">
                <a:solidFill>
                  <a:srgbClr val="52645F"/>
                </a:solidFill>
                <a:latin typeface="Arial"/>
                <a:ea typeface="Arial"/>
                <a:cs typeface="Arial"/>
              </a:rPr>
              <a:t>An introduction for teams using FastAPI, Streamlit and Posit</a:t>
            </a:r>
          </a:p>
        </p:txBody>
      </p:sp>
      <p:sp>
        <p:nvSpPr>
          <p:cNvPr id="4" name="cover-meta">
            <a:extLst xmlns:a="http://schemas.openxmlformats.org/drawingml/2006/main">
              <a:ext uri="{FF2B5EF4-FFF2-40B4-BE49-F238E27FC236}">
                <a16:creationId xmlns:a16="http://schemas.microsoft.com/office/drawing/2014/main" id="{8193D5ED-F898-42EE-9295-B1882FD71B07}"/>
              </a:ext>
            </a:extLst>
          </p:cNvPr>
          <p:cNvSpPr>
            <a:spLocks xmlns:a="http://schemas.openxmlformats.org/drawingml/2006/main" noGrp="1"/>
          </p:cNvSpPr>
          <p:nvPr/>
        </p:nvSpPr>
        <p:spPr>
          <a:xfrm xmlns:a="http://schemas.openxmlformats.org/drawingml/2006/main">
            <a:off x="666750" y="602932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52645F"/>
                </a:solidFill>
                <a:latin typeface="Arial"/>
                <a:ea typeface="Arial"/>
                <a:cs typeface="Arial"/>
              </a:defRPr>
            </a:pPr>
            <a:r>
              <a:rPr sz="1350" b="0" i="0">
                <a:solidFill>
                  <a:srgbClr val="52645F"/>
                </a:solidFill>
                <a:latin typeface="Arial"/>
                <a:ea typeface="Arial"/>
                <a:cs typeface="Arial"/>
              </a:rPr>
              <a:t>September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fd119e053b64f9d"/>
          <a:srcRect xmlns:a="http://schemas.openxmlformats.org/drawingml/2006/main" l="5617" t="0" r="5617" b="0"/>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Tree>
    <p:extLst>
      <p:ext uri="{BB962C8B-B14F-4D97-AF65-F5344CB8AC3E}">
        <p14:creationId xmlns:p14="http://schemas.microsoft.com/office/powerpoint/2010/main" val="905986701"/>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8" name="title-2">
            <a:extLst xmlns:a="http://schemas.openxmlformats.org/drawingml/2006/main">
              <a:ext uri="{FF2B5EF4-FFF2-40B4-BE49-F238E27FC236}">
                <a16:creationId xmlns:a16="http://schemas.microsoft.com/office/drawing/2014/main" id="{36CC1404-D9D8-4A75-9B1E-35ED59E70021}"/>
              </a:ext>
            </a:extLst>
          </p:cNvPr>
          <p:cNvSpPr>
            <a:spLocks xmlns:a="http://schemas.openxmlformats.org/drawingml/2006/main" noGrp="1"/>
          </p:cNvSpPr>
          <p:nvPr/>
        </p:nvSpPr>
        <p:spPr>
          <a:xfrm xmlns:a="http://schemas.openxmlformats.org/drawingml/2006/main">
            <a:off x="685800" y="4191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93A37"/>
                </a:solidFill>
                <a:latin typeface="Georgia"/>
                <a:ea typeface="Georgia"/>
                <a:cs typeface="Georgia"/>
              </a:defRPr>
            </a:pPr>
            <a:r>
              <a:rPr sz="3150" b="0" i="0">
                <a:solidFill>
                  <a:srgbClr val="193A37"/>
                </a:solidFill>
                <a:latin typeface="Georgia"/>
                <a:ea typeface="Georgia"/>
                <a:cs typeface="Georgia"/>
              </a:rPr>
              <a:t>What Hedron is</a:t>
            </a:r>
          </a:p>
        </p:txBody>
      </p:sp>
      <p:sp>
        <p:nvSpPr>
          <p:cNvPr id="2" name="page-2">
            <a:extLst xmlns:a="http://schemas.openxmlformats.org/drawingml/2006/main">
              <a:ext uri="{FF2B5EF4-FFF2-40B4-BE49-F238E27FC236}">
                <a16:creationId xmlns:a16="http://schemas.microsoft.com/office/drawing/2014/main" id="{4ABB670F-D076-4C5B-86A8-1037065F0171}"/>
              </a:ext>
            </a:extLst>
          </p:cNvPr>
          <p:cNvSpPr>
            <a:spLocks xmlns:a="http://schemas.openxmlformats.org/drawingml/2006/main" noGrp="1"/>
          </p:cNvSpPr>
          <p:nvPr/>
        </p:nvSpPr>
        <p:spPr>
          <a:xfrm xmlns:a="http://schemas.openxmlformats.org/drawingml/2006/main">
            <a:off x="11372850" y="641032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52645F"/>
                </a:solidFill>
                <a:latin typeface="Arial"/>
                <a:ea typeface="Arial"/>
                <a:cs typeface="Arial"/>
              </a:defRPr>
            </a:pPr>
            <a:r>
              <a:rPr sz="1050" b="0" i="0">
                <a:solidFill>
                  <a:srgbClr val="52645F"/>
                </a:solidFill>
                <a:latin typeface="Arial"/>
                <a:ea typeface="Arial"/>
                <a:cs typeface="Arial"/>
              </a:rPr>
              <a:t>02</a:t>
            </a:r>
          </a:p>
        </p:txBody>
      </p:sp>
      <p:sp>
        <p:nvSpPr>
          <p:cNvPr id="3" name="definition">
            <a:extLst xmlns:a="http://schemas.openxmlformats.org/drawingml/2006/main">
              <a:ext uri="{FF2B5EF4-FFF2-40B4-BE49-F238E27FC236}">
                <a16:creationId xmlns:a16="http://schemas.microsoft.com/office/drawing/2014/main" id="{A806BAA1-AA8D-43DB-AD50-5A16EFD32B6B}"/>
              </a:ext>
            </a:extLst>
          </p:cNvPr>
          <p:cNvSpPr>
            <a:spLocks xmlns:a="http://schemas.openxmlformats.org/drawingml/2006/main" noGrp="1"/>
          </p:cNvSpPr>
          <p:nvPr/>
        </p:nvSpPr>
        <p:spPr>
          <a:xfrm xmlns:a="http://schemas.openxmlformats.org/drawingml/2006/main">
            <a:off x="742950" y="1514475"/>
            <a:ext cx="1028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0" i="0">
                <a:solidFill>
                  <a:srgbClr val="17645E"/>
                </a:solidFill>
                <a:latin typeface="Georgia"/>
                <a:ea typeface="Georgia"/>
                <a:cs typeface="Georgia"/>
              </a:defRPr>
            </a:pPr>
            <a:r>
              <a:rPr sz="3525" b="0" i="0">
                <a:solidFill>
                  <a:srgbClr val="17645E"/>
                </a:solidFill>
                <a:latin typeface="Georgia"/>
                <a:ea typeface="Georgia"/>
                <a:cs typeface="Georgia"/>
              </a:rPr>
              <a:t>A Python framework for server-rendered interfaces on FastAPI</a:t>
            </a:r>
          </a:p>
        </p:txBody>
      </p:sp>
      <p:sp>
        <p:nvSpPr>
          <p:cNvPr id="4" name="def-1">
            <a:extLst xmlns:a="http://schemas.openxmlformats.org/drawingml/2006/main">
              <a:ext uri="{FF2B5EF4-FFF2-40B4-BE49-F238E27FC236}">
                <a16:creationId xmlns:a16="http://schemas.microsoft.com/office/drawing/2014/main" id="{74889293-F5F2-417A-A859-C1D17A156019}"/>
              </a:ext>
            </a:extLst>
          </p:cNvPr>
          <p:cNvSpPr>
            <a:spLocks xmlns:a="http://schemas.openxmlformats.org/drawingml/2006/main" noGrp="1"/>
          </p:cNvSpPr>
          <p:nvPr/>
        </p:nvSpPr>
        <p:spPr>
          <a:xfrm xmlns:a="http://schemas.openxmlformats.org/drawingml/2006/main">
            <a:off x="781050" y="3581400"/>
            <a:ext cx="4857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i="0">
                <a:solidFill>
                  <a:srgbClr val="193A37"/>
                </a:solidFill>
                <a:latin typeface="Arial"/>
                <a:ea typeface="Arial"/>
                <a:cs typeface="Arial"/>
              </a:defRPr>
            </a:pPr>
            <a:r>
              <a:rPr sz="2025" b="1" i="0">
                <a:solidFill>
                  <a:srgbClr val="193A37"/>
                </a:solidFill>
                <a:latin typeface="Arial"/>
                <a:ea typeface="Arial"/>
                <a:cs typeface="Arial"/>
              </a:rPr>
              <a:t>Python functions return pages and components</a:t>
            </a:r>
          </a:p>
        </p:txBody>
      </p:sp>
      <p:sp>
        <p:nvSpPr>
          <p:cNvPr id="5" name="def-2">
            <a:extLst xmlns:a="http://schemas.openxmlformats.org/drawingml/2006/main">
              <a:ext uri="{FF2B5EF4-FFF2-40B4-BE49-F238E27FC236}">
                <a16:creationId xmlns:a16="http://schemas.microsoft.com/office/drawing/2014/main" id="{C9E56072-6966-4827-B32D-CC13BB8ED77A}"/>
              </a:ext>
            </a:extLst>
          </p:cNvPr>
          <p:cNvSpPr>
            <a:spLocks xmlns:a="http://schemas.openxmlformats.org/drawingml/2006/main" noGrp="1"/>
          </p:cNvSpPr>
          <p:nvPr/>
        </p:nvSpPr>
        <p:spPr>
          <a:xfrm xmlns:a="http://schemas.openxmlformats.org/drawingml/2006/main">
            <a:off x="6191250" y="3581400"/>
            <a:ext cx="5000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i="0">
                <a:solidFill>
                  <a:srgbClr val="193A37"/>
                </a:solidFill>
                <a:latin typeface="Arial"/>
                <a:ea typeface="Arial"/>
                <a:cs typeface="Arial"/>
              </a:defRPr>
            </a:pPr>
            <a:r>
              <a:rPr sz="2025" b="1" i="0">
                <a:solidFill>
                  <a:srgbClr val="193A37"/>
                </a:solidFill>
                <a:latin typeface="Arial"/>
                <a:ea typeface="Arial"/>
                <a:cs typeface="Arial"/>
              </a:rPr>
              <a:t>FastAPI handles routes, validation and dependencies</a:t>
            </a:r>
          </a:p>
        </p:txBody>
      </p:sp>
      <p:sp>
        <p:nvSpPr>
          <p:cNvPr id="6" name="def-3">
            <a:extLst xmlns:a="http://schemas.openxmlformats.org/drawingml/2006/main">
              <a:ext uri="{FF2B5EF4-FFF2-40B4-BE49-F238E27FC236}">
                <a16:creationId xmlns:a16="http://schemas.microsoft.com/office/drawing/2014/main" id="{E2A41566-1F29-4564-A3FE-85619C650BD5}"/>
              </a:ext>
            </a:extLst>
          </p:cNvPr>
          <p:cNvSpPr>
            <a:spLocks xmlns:a="http://schemas.openxmlformats.org/drawingml/2006/main" noGrp="1"/>
          </p:cNvSpPr>
          <p:nvPr/>
        </p:nvSpPr>
        <p:spPr>
          <a:xfrm xmlns:a="http://schemas.openxmlformats.org/drawingml/2006/main">
            <a:off x="781050" y="4905375"/>
            <a:ext cx="4857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i="0">
                <a:solidFill>
                  <a:srgbClr val="193A37"/>
                </a:solidFill>
                <a:latin typeface="Arial"/>
                <a:ea typeface="Arial"/>
                <a:cs typeface="Arial"/>
              </a:defRPr>
            </a:pPr>
            <a:r>
              <a:rPr sz="2025" b="1" i="0">
                <a:solidFill>
                  <a:srgbClr val="193A37"/>
                </a:solidFill>
                <a:latin typeface="Arial"/>
                <a:ea typeface="Arial"/>
                <a:cs typeface="Arial"/>
              </a:rPr>
              <a:t>HTMX replaces declared regions after a request</a:t>
            </a:r>
          </a:p>
        </p:txBody>
      </p:sp>
      <p:sp>
        <p:nvSpPr>
          <p:cNvPr id="7" name="def-4">
            <a:extLst xmlns:a="http://schemas.openxmlformats.org/drawingml/2006/main">
              <a:ext uri="{FF2B5EF4-FFF2-40B4-BE49-F238E27FC236}">
                <a16:creationId xmlns:a16="http://schemas.microsoft.com/office/drawing/2014/main" id="{F07E1432-8F42-467A-AE8D-C95471BEA026}"/>
              </a:ext>
            </a:extLst>
          </p:cNvPr>
          <p:cNvSpPr>
            <a:spLocks xmlns:a="http://schemas.openxmlformats.org/drawingml/2006/main" noGrp="1"/>
          </p:cNvSpPr>
          <p:nvPr/>
        </p:nvSpPr>
        <p:spPr>
          <a:xfrm xmlns:a="http://schemas.openxmlformats.org/drawingml/2006/main">
            <a:off x="6191250" y="4905375"/>
            <a:ext cx="5000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i="0">
                <a:solidFill>
                  <a:srgbClr val="193A37"/>
                </a:solidFill>
                <a:latin typeface="Arial"/>
                <a:ea typeface="Arial"/>
                <a:cs typeface="Arial"/>
              </a:defRPr>
            </a:pPr>
            <a:r>
              <a:rPr sz="2025" b="1" i="0">
                <a:solidFill>
                  <a:srgbClr val="193A37"/>
                </a:solidFill>
                <a:latin typeface="Arial"/>
                <a:ea typeface="Arial"/>
                <a:cs typeface="Arial"/>
              </a:rPr>
              <a:t>Alpine handles small browser-local interactions</a:t>
            </a:r>
          </a:p>
        </p:txBody>
      </p:sp>
    </p:spTree>
    <p:extLst>
      <p:ext uri="{BB962C8B-B14F-4D97-AF65-F5344CB8AC3E}">
        <p14:creationId xmlns:p14="http://schemas.microsoft.com/office/powerpoint/2010/main" val="1606432008"/>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8" name="title-3">
            <a:extLst xmlns:a="http://schemas.openxmlformats.org/drawingml/2006/main">
              <a:ext uri="{FF2B5EF4-FFF2-40B4-BE49-F238E27FC236}">
                <a16:creationId xmlns:a16="http://schemas.microsoft.com/office/drawing/2014/main" id="{03DB5B7E-2419-49AA-A5B7-B4DE5F02209E}"/>
              </a:ext>
            </a:extLst>
          </p:cNvPr>
          <p:cNvSpPr>
            <a:spLocks xmlns:a="http://schemas.openxmlformats.org/drawingml/2006/main" noGrp="1"/>
          </p:cNvSpPr>
          <p:nvPr/>
        </p:nvSpPr>
        <p:spPr>
          <a:xfrm xmlns:a="http://schemas.openxmlformats.org/drawingml/2006/main">
            <a:off x="685800" y="4191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93A37"/>
                </a:solidFill>
                <a:latin typeface="Georgia"/>
                <a:ea typeface="Georgia"/>
                <a:cs typeface="Georgia"/>
              </a:defRPr>
            </a:pPr>
            <a:r>
              <a:rPr sz="3150" b="0" i="0">
                <a:solidFill>
                  <a:srgbClr val="193A37"/>
                </a:solidFill>
                <a:latin typeface="Georgia"/>
                <a:ea typeface="Georgia"/>
                <a:cs typeface="Georgia"/>
              </a:rPr>
              <a:t>Interaction model: Streamlit and Hedron</a:t>
            </a:r>
          </a:p>
        </p:txBody>
      </p:sp>
      <p:sp>
        <p:nvSpPr>
          <p:cNvPr id="2" name="page-3">
            <a:extLst xmlns:a="http://schemas.openxmlformats.org/drawingml/2006/main">
              <a:ext uri="{FF2B5EF4-FFF2-40B4-BE49-F238E27FC236}">
                <a16:creationId xmlns:a16="http://schemas.microsoft.com/office/drawing/2014/main" id="{2498A848-17C8-40AA-A7FD-1C26FC307670}"/>
              </a:ext>
            </a:extLst>
          </p:cNvPr>
          <p:cNvSpPr>
            <a:spLocks xmlns:a="http://schemas.openxmlformats.org/drawingml/2006/main" noGrp="1"/>
          </p:cNvSpPr>
          <p:nvPr/>
        </p:nvSpPr>
        <p:spPr>
          <a:xfrm xmlns:a="http://schemas.openxmlformats.org/drawingml/2006/main">
            <a:off x="11372850" y="641032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52645F"/>
                </a:solidFill>
                <a:latin typeface="Arial"/>
                <a:ea typeface="Arial"/>
                <a:cs typeface="Arial"/>
              </a:defRPr>
            </a:pPr>
            <a:r>
              <a:rPr sz="1050" b="0" i="0">
                <a:solidFill>
                  <a:srgbClr val="52645F"/>
                </a:solidFill>
                <a:latin typeface="Arial"/>
                <a:ea typeface="Arial"/>
                <a:cs typeface="Arial"/>
              </a:rPr>
              <a:t>03</a:t>
            </a:r>
          </a:p>
        </p:txBody>
      </p:sp>
      <p:sp>
        <p:nvSpPr>
          <p:cNvPr id="3" name="streamlit-head">
            <a:extLst xmlns:a="http://schemas.openxmlformats.org/drawingml/2006/main">
              <a:ext uri="{FF2B5EF4-FFF2-40B4-BE49-F238E27FC236}">
                <a16:creationId xmlns:a16="http://schemas.microsoft.com/office/drawing/2014/main" id="{D64AA494-E387-4A88-8EB9-4D566C8325C9}"/>
              </a:ext>
            </a:extLst>
          </p:cNvPr>
          <p:cNvSpPr>
            <a:spLocks xmlns:a="http://schemas.openxmlformats.org/drawingml/2006/main" noGrp="1"/>
          </p:cNvSpPr>
          <p:nvPr/>
        </p:nvSpPr>
        <p:spPr>
          <a:xfrm xmlns:a="http://schemas.openxmlformats.org/drawingml/2006/main">
            <a:off x="733425" y="1514475"/>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625" b="1" i="0">
                <a:solidFill>
                  <a:srgbClr val="17645E"/>
                </a:solidFill>
                <a:latin typeface="Arial"/>
                <a:ea typeface="Arial"/>
                <a:cs typeface="Arial"/>
              </a:defRPr>
            </a:pPr>
            <a:r>
              <a:rPr sz="2625" b="1" i="0">
                <a:solidFill>
                  <a:srgbClr val="17645E"/>
                </a:solidFill>
                <a:latin typeface="Arial"/>
                <a:ea typeface="Arial"/>
                <a:cs typeface="Arial"/>
              </a:rPr>
              <a:t>Streamlit</a:t>
            </a:r>
          </a:p>
        </p:txBody>
      </p:sp>
      <p:sp>
        <p:nvSpPr>
          <p:cNvPr id="4" name="hedron-head">
            <a:extLst xmlns:a="http://schemas.openxmlformats.org/drawingml/2006/main">
              <a:ext uri="{FF2B5EF4-FFF2-40B4-BE49-F238E27FC236}">
                <a16:creationId xmlns:a16="http://schemas.microsoft.com/office/drawing/2014/main" id="{5C833DA0-FE50-405D-93E1-C50EFCA8CA75}"/>
              </a:ext>
            </a:extLst>
          </p:cNvPr>
          <p:cNvSpPr>
            <a:spLocks xmlns:a="http://schemas.openxmlformats.org/drawingml/2006/main" noGrp="1"/>
          </p:cNvSpPr>
          <p:nvPr/>
        </p:nvSpPr>
        <p:spPr>
          <a:xfrm xmlns:a="http://schemas.openxmlformats.org/drawingml/2006/main">
            <a:off x="6400800" y="1514475"/>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625" b="1" i="0">
                <a:solidFill>
                  <a:srgbClr val="17645E"/>
                </a:solidFill>
                <a:latin typeface="Arial"/>
                <a:ea typeface="Arial"/>
                <a:cs typeface="Arial"/>
              </a:defRPr>
            </a:pPr>
            <a:r>
              <a:rPr sz="2625" b="1" i="0">
                <a:solidFill>
                  <a:srgbClr val="17645E"/>
                </a:solidFill>
                <a:latin typeface="Arial"/>
                <a:ea typeface="Arial"/>
                <a:cs typeface="Arial"/>
              </a:rPr>
              <a:t>Hedron</a:t>
            </a:r>
          </a:p>
        </p:txBody>
      </p:sp>
      <p:sp>
        <p:nvSpPr>
          <p:cNvPr id="5" name="streamlit-flow">
            <a:extLst xmlns:a="http://schemas.openxmlformats.org/drawingml/2006/main">
              <a:ext uri="{FF2B5EF4-FFF2-40B4-BE49-F238E27FC236}">
                <a16:creationId xmlns:a16="http://schemas.microsoft.com/office/drawing/2014/main" id="{527F03B1-7C3B-444F-8624-12EC54270119}"/>
              </a:ext>
            </a:extLst>
          </p:cNvPr>
          <p:cNvSpPr>
            <a:spLocks xmlns:a="http://schemas.openxmlformats.org/drawingml/2006/main" noGrp="1"/>
          </p:cNvSpPr>
          <p:nvPr/>
        </p:nvSpPr>
        <p:spPr>
          <a:xfrm xmlns:a="http://schemas.openxmlformats.org/drawingml/2006/main">
            <a:off x="742950" y="2343150"/>
            <a:ext cx="4762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93A37"/>
                </a:solidFill>
                <a:latin typeface="Arial"/>
                <a:ea typeface="Arial"/>
                <a:cs typeface="Arial"/>
              </a:defRPr>
            </a:pPr>
            <a:r>
              <a:rPr sz="2175" b="0" i="0">
                <a:solidFill>
                  <a:srgbClr val="193A37"/>
                </a:solidFill>
                <a:latin typeface="Arial"/>
                <a:ea typeface="Arial"/>
                <a:cs typeface="Arial"/>
              </a:rPr>
              <a:t>Widget changes</a:t>
            </a:r>
          </a:p>
          <a:p xmlns:a="http://schemas.openxmlformats.org/drawingml/2006/main">
            <a:r>
              <a:t/>
            </a:r>
          </a:p>
          <a:p xmlns:a="http://schemas.openxmlformats.org/drawingml/2006/main">
            <a:pPr algn="l">
              <a:lnSpc>
                <a:spcPct val="104000"/>
              </a:lnSpc>
              <a:buNone/>
              <a:defRPr sz="2175" b="0" i="0">
                <a:solidFill>
                  <a:srgbClr val="193A37"/>
                </a:solidFill>
                <a:latin typeface="Arial"/>
                <a:ea typeface="Arial"/>
                <a:cs typeface="Arial"/>
              </a:defRPr>
            </a:pPr>
            <a:r>
              <a:rPr sz="2175" b="0" i="0">
                <a:solidFill>
                  <a:srgbClr val="193A37"/>
                </a:solidFill>
                <a:latin typeface="Arial"/>
                <a:ea typeface="Arial"/>
                <a:cs typeface="Arial"/>
              </a:rPr>
              <a:t>Python script reruns by default</a:t>
            </a:r>
          </a:p>
          <a:p xmlns:a="http://schemas.openxmlformats.org/drawingml/2006/main">
            <a:r>
              <a:t/>
            </a:r>
          </a:p>
          <a:p xmlns:a="http://schemas.openxmlformats.org/drawingml/2006/main">
            <a:pPr algn="l">
              <a:lnSpc>
                <a:spcPct val="104000"/>
              </a:lnSpc>
              <a:buNone/>
              <a:defRPr sz="2175" b="0" i="0">
                <a:solidFill>
                  <a:srgbClr val="193A37"/>
                </a:solidFill>
                <a:latin typeface="Arial"/>
                <a:ea typeface="Arial"/>
                <a:cs typeface="Arial"/>
              </a:defRPr>
            </a:pPr>
            <a:r>
              <a:rPr sz="2175" b="0" i="0">
                <a:solidFill>
                  <a:srgbClr val="193A37"/>
                </a:solidFill>
                <a:latin typeface="Arial"/>
                <a:ea typeface="Arial"/>
                <a:cs typeface="Arial"/>
              </a:rPr>
              <a:t>UI is rebuilt from script output</a:t>
            </a:r>
          </a:p>
        </p:txBody>
      </p:sp>
      <p:sp>
        <p:nvSpPr>
          <p:cNvPr id="6" name="hedron-flow">
            <a:extLst xmlns:a="http://schemas.openxmlformats.org/drawingml/2006/main">
              <a:ext uri="{FF2B5EF4-FFF2-40B4-BE49-F238E27FC236}">
                <a16:creationId xmlns:a16="http://schemas.microsoft.com/office/drawing/2014/main" id="{B6D2AD78-CDD6-4BB9-89C5-1701FA710669}"/>
              </a:ext>
            </a:extLst>
          </p:cNvPr>
          <p:cNvSpPr>
            <a:spLocks xmlns:a="http://schemas.openxmlformats.org/drawingml/2006/main" noGrp="1"/>
          </p:cNvSpPr>
          <p:nvPr/>
        </p:nvSpPr>
        <p:spPr>
          <a:xfrm xmlns:a="http://schemas.openxmlformats.org/drawingml/2006/main">
            <a:off x="6410325" y="2343150"/>
            <a:ext cx="4857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0" i="0">
                <a:solidFill>
                  <a:srgbClr val="193A37"/>
                </a:solidFill>
                <a:latin typeface="Arial"/>
                <a:ea typeface="Arial"/>
                <a:cs typeface="Arial"/>
              </a:defRPr>
            </a:pPr>
            <a:r>
              <a:rPr sz="2175" b="0" i="0">
                <a:solidFill>
                  <a:srgbClr val="193A37"/>
                </a:solidFill>
                <a:latin typeface="Arial"/>
                <a:ea typeface="Arial"/>
                <a:cs typeface="Arial"/>
              </a:rPr>
              <a:t>Browser sends an HTTP request</a:t>
            </a:r>
          </a:p>
          <a:p xmlns:a="http://schemas.openxmlformats.org/drawingml/2006/main">
            <a:r>
              <a:t/>
            </a:r>
          </a:p>
          <a:p xmlns:a="http://schemas.openxmlformats.org/drawingml/2006/main">
            <a:pPr algn="l">
              <a:lnSpc>
                <a:spcPct val="104000"/>
              </a:lnSpc>
              <a:buNone/>
              <a:defRPr sz="2175" b="0" i="0">
                <a:solidFill>
                  <a:srgbClr val="193A37"/>
                </a:solidFill>
                <a:latin typeface="Arial"/>
                <a:ea typeface="Arial"/>
                <a:cs typeface="Arial"/>
              </a:defRPr>
            </a:pPr>
            <a:r>
              <a:rPr sz="2175" b="0" i="0">
                <a:solidFill>
                  <a:srgbClr val="193A37"/>
                </a:solidFill>
                <a:latin typeface="Arial"/>
                <a:ea typeface="Arial"/>
                <a:cs typeface="Arial"/>
              </a:rPr>
              <a:t>One page, view or action runs</a:t>
            </a:r>
          </a:p>
          <a:p xmlns:a="http://schemas.openxmlformats.org/drawingml/2006/main">
            <a:r>
              <a:t/>
            </a:r>
          </a:p>
          <a:p xmlns:a="http://schemas.openxmlformats.org/drawingml/2006/main">
            <a:pPr algn="l">
              <a:lnSpc>
                <a:spcPct val="104000"/>
              </a:lnSpc>
              <a:buNone/>
              <a:defRPr sz="2175" b="0" i="0">
                <a:solidFill>
                  <a:srgbClr val="193A37"/>
                </a:solidFill>
                <a:latin typeface="Arial"/>
                <a:ea typeface="Arial"/>
                <a:cs typeface="Arial"/>
              </a:defRPr>
            </a:pPr>
            <a:r>
              <a:rPr sz="2175" b="0" i="0">
                <a:solidFill>
                  <a:srgbClr val="193A37"/>
                </a:solidFill>
                <a:latin typeface="Arial"/>
                <a:ea typeface="Arial"/>
                <a:cs typeface="Arial"/>
              </a:rPr>
              <a:t>Server returns HTML or a redirect</a:t>
            </a:r>
          </a:p>
        </p:txBody>
      </p:sp>
      <p:sp>
        <p:nvSpPr>
          <p:cNvPr id="7" name="comparison-nuance">
            <a:extLst xmlns:a="http://schemas.openxmlformats.org/drawingml/2006/main">
              <a:ext uri="{FF2B5EF4-FFF2-40B4-BE49-F238E27FC236}">
                <a16:creationId xmlns:a16="http://schemas.microsoft.com/office/drawing/2014/main" id="{D473F70D-E62C-4593-968C-44B5A4F7F725}"/>
              </a:ext>
            </a:extLst>
          </p:cNvPr>
          <p:cNvSpPr>
            <a:spLocks xmlns:a="http://schemas.openxmlformats.org/drawingml/2006/main" noGrp="1"/>
          </p:cNvSpPr>
          <p:nvPr/>
        </p:nvSpPr>
        <p:spPr>
          <a:xfrm xmlns:a="http://schemas.openxmlformats.org/drawingml/2006/main">
            <a:off x="752475" y="5743575"/>
            <a:ext cx="1040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52645F"/>
                </a:solidFill>
                <a:latin typeface="Arial"/>
                <a:ea typeface="Arial"/>
                <a:cs typeface="Arial"/>
              </a:defRPr>
            </a:pPr>
            <a:r>
              <a:rPr sz="1575" b="0" i="0">
                <a:solidFill>
                  <a:srgbClr val="52645F"/>
                </a:solidFill>
                <a:latin typeface="Arial"/>
                <a:ea typeface="Arial"/>
                <a:cs typeface="Arial"/>
              </a:rPr>
              <a:t>Streamlit also supports forms and fragments. Hedron makes the HTTP request and response boundary explicit.</a:t>
            </a:r>
          </a:p>
        </p:txBody>
      </p:sp>
    </p:spTree>
    <p:extLst>
      <p:ext uri="{BB962C8B-B14F-4D97-AF65-F5344CB8AC3E}">
        <p14:creationId xmlns:p14="http://schemas.microsoft.com/office/powerpoint/2010/main" val="176787910"/>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5" name="title-4">
            <a:extLst xmlns:a="http://schemas.openxmlformats.org/drawingml/2006/main">
              <a:ext uri="{FF2B5EF4-FFF2-40B4-BE49-F238E27FC236}">
                <a16:creationId xmlns:a16="http://schemas.microsoft.com/office/drawing/2014/main" id="{0A87E0E1-0315-4E14-8D5A-30B4645C6570}"/>
              </a:ext>
            </a:extLst>
          </p:cNvPr>
          <p:cNvSpPr>
            <a:spLocks xmlns:a="http://schemas.openxmlformats.org/drawingml/2006/main" noGrp="1"/>
          </p:cNvSpPr>
          <p:nvPr/>
        </p:nvSpPr>
        <p:spPr>
          <a:xfrm xmlns:a="http://schemas.openxmlformats.org/drawingml/2006/main">
            <a:off x="685800" y="4191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93A37"/>
                </a:solidFill>
                <a:latin typeface="Georgia"/>
                <a:ea typeface="Georgia"/>
                <a:cs typeface="Georgia"/>
              </a:defRPr>
            </a:pPr>
            <a:r>
              <a:rPr sz="3150" b="0" i="0">
                <a:solidFill>
                  <a:srgbClr val="193A37"/>
                </a:solidFill>
                <a:latin typeface="Georgia"/>
                <a:ea typeface="Georgia"/>
                <a:cs typeface="Georgia"/>
              </a:rPr>
              <a:t>A Hedron request</a:t>
            </a:r>
          </a:p>
        </p:txBody>
      </p:sp>
      <p:sp>
        <p:nvSpPr>
          <p:cNvPr id="2" name="page-4">
            <a:extLst xmlns:a="http://schemas.openxmlformats.org/drawingml/2006/main">
              <a:ext uri="{FF2B5EF4-FFF2-40B4-BE49-F238E27FC236}">
                <a16:creationId xmlns:a16="http://schemas.microsoft.com/office/drawing/2014/main" id="{B71EC4E0-9052-48A4-8481-F727A3C7A9F0}"/>
              </a:ext>
            </a:extLst>
          </p:cNvPr>
          <p:cNvSpPr>
            <a:spLocks xmlns:a="http://schemas.openxmlformats.org/drawingml/2006/main" noGrp="1"/>
          </p:cNvSpPr>
          <p:nvPr/>
        </p:nvSpPr>
        <p:spPr>
          <a:xfrm xmlns:a="http://schemas.openxmlformats.org/drawingml/2006/main">
            <a:off x="11372850" y="641032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52645F"/>
                </a:solidFill>
                <a:latin typeface="Arial"/>
                <a:ea typeface="Arial"/>
                <a:cs typeface="Arial"/>
              </a:defRPr>
            </a:pPr>
            <a:r>
              <a:rPr sz="1050" b="0" i="0">
                <a:solidFill>
                  <a:srgbClr val="52645F"/>
                </a:solidFill>
                <a:latin typeface="Arial"/>
                <a:ea typeface="Arial"/>
                <a:cs typeface="Arial"/>
              </a:rPr>
              <a:t>04</a:t>
            </a:r>
          </a:p>
        </p:txBody>
      </p:sp>
      <p:sp>
        <p:nvSpPr>
          <p:cNvPr id="3" name="request-stage-0">
            <a:extLst xmlns:a="http://schemas.openxmlformats.org/drawingml/2006/main">
              <a:ext uri="{FF2B5EF4-FFF2-40B4-BE49-F238E27FC236}">
                <a16:creationId xmlns:a16="http://schemas.microsoft.com/office/drawing/2014/main" id="{D8DA1EA1-CEEC-4272-9ECA-7474C86131F7}"/>
              </a:ext>
            </a:extLst>
          </p:cNvPr>
          <p:cNvSpPr>
            <a:spLocks xmlns:a="http://schemas.openxmlformats.org/drawingml/2006/main" noGrp="1"/>
          </p:cNvSpPr>
          <p:nvPr/>
        </p:nvSpPr>
        <p:spPr>
          <a:xfrm xmlns:a="http://schemas.openxmlformats.org/drawingml/2006/main">
            <a:off x="723900" y="2200275"/>
            <a:ext cx="2667000" cy="1504950"/>
          </a:xfrm>
          <a:prstGeom xmlns:a="http://schemas.openxmlformats.org/drawingml/2006/main" prst="rect">
            <a:avLst/>
          </a:prstGeom>
          <a:solidFill xmlns:a="http://schemas.openxmlformats.org/drawingml/2006/main">
            <a:srgbClr val="E7F1EE"/>
          </a:solidFill>
          <a:ln xmlns:a="http://schemas.openxmlformats.org/drawingml/2006/main" w="9525">
            <a:solidFill>
              <a:srgbClr val="17645E"/>
            </a:solidFill>
            <a:prstDash val="solid"/>
          </a:ln>
        </p:spPr>
      </p:sp>
      <p:sp>
        <p:nvSpPr>
          <p:cNvPr id="4" name="stage-head-0">
            <a:extLst xmlns:a="http://schemas.openxmlformats.org/drawingml/2006/main">
              <a:ext uri="{FF2B5EF4-FFF2-40B4-BE49-F238E27FC236}">
                <a16:creationId xmlns:a16="http://schemas.microsoft.com/office/drawing/2014/main" id="{C38A4956-92AA-482C-BF3F-BC87E18EE8A1}"/>
              </a:ext>
            </a:extLst>
          </p:cNvPr>
          <p:cNvSpPr>
            <a:spLocks xmlns:a="http://schemas.openxmlformats.org/drawingml/2006/main" noGrp="1"/>
          </p:cNvSpPr>
          <p:nvPr/>
        </p:nvSpPr>
        <p:spPr>
          <a:xfrm xmlns:a="http://schemas.openxmlformats.org/drawingml/2006/main">
            <a:off x="904875" y="2409825"/>
            <a:ext cx="23050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i="0">
                <a:solidFill>
                  <a:srgbClr val="193A37"/>
                </a:solidFill>
                <a:latin typeface="Arial"/>
                <a:ea typeface="Arial"/>
                <a:cs typeface="Arial"/>
              </a:defRPr>
            </a:pPr>
            <a:r>
              <a:rPr sz="2175" b="1" i="0">
                <a:solidFill>
                  <a:srgbClr val="193A37"/>
                </a:solidFill>
                <a:latin typeface="Arial"/>
                <a:ea typeface="Arial"/>
                <a:cs typeface="Arial"/>
              </a:rPr>
              <a:t>Browser</a:t>
            </a:r>
          </a:p>
        </p:txBody>
      </p:sp>
      <p:sp>
        <p:nvSpPr>
          <p:cNvPr id="5" name="stage-sub-0">
            <a:extLst xmlns:a="http://schemas.openxmlformats.org/drawingml/2006/main">
              <a:ext uri="{FF2B5EF4-FFF2-40B4-BE49-F238E27FC236}">
                <a16:creationId xmlns:a16="http://schemas.microsoft.com/office/drawing/2014/main" id="{E48D28D0-CE0D-41FD-BE51-0996BB2EFF85}"/>
              </a:ext>
            </a:extLst>
          </p:cNvPr>
          <p:cNvSpPr>
            <a:spLocks xmlns:a="http://schemas.openxmlformats.org/drawingml/2006/main" noGrp="1"/>
          </p:cNvSpPr>
          <p:nvPr/>
        </p:nvSpPr>
        <p:spPr>
          <a:xfrm xmlns:a="http://schemas.openxmlformats.org/drawingml/2006/main">
            <a:off x="904875" y="2952750"/>
            <a:ext cx="2305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52645F"/>
                </a:solidFill>
                <a:latin typeface="Arial"/>
                <a:ea typeface="Arial"/>
                <a:cs typeface="Arial"/>
              </a:defRPr>
            </a:pPr>
            <a:r>
              <a:rPr sz="1575" b="0" i="0">
                <a:solidFill>
                  <a:srgbClr val="52645F"/>
                </a:solidFill>
                <a:latin typeface="Arial"/>
                <a:ea typeface="Arial"/>
                <a:cs typeface="Arial"/>
              </a:rPr>
              <a:t>Navigation or HTMX request</a:t>
            </a:r>
          </a:p>
        </p:txBody>
      </p:sp>
      <p:sp>
        <p:nvSpPr>
          <p:cNvPr id="6" name="request-stage-1">
            <a:extLst xmlns:a="http://schemas.openxmlformats.org/drawingml/2006/main">
              <a:ext uri="{FF2B5EF4-FFF2-40B4-BE49-F238E27FC236}">
                <a16:creationId xmlns:a16="http://schemas.microsoft.com/office/drawing/2014/main" id="{838DA25C-2EB6-4EB1-8A8A-2F3C2AB76FD6}"/>
              </a:ext>
            </a:extLst>
          </p:cNvPr>
          <p:cNvSpPr>
            <a:spLocks xmlns:a="http://schemas.openxmlformats.org/drawingml/2006/main" noGrp="1"/>
          </p:cNvSpPr>
          <p:nvPr/>
        </p:nvSpPr>
        <p:spPr>
          <a:xfrm xmlns:a="http://schemas.openxmlformats.org/drawingml/2006/main">
            <a:off x="4667250" y="2200275"/>
            <a:ext cx="2857500" cy="1504950"/>
          </a:xfrm>
          <a:prstGeom xmlns:a="http://schemas.openxmlformats.org/drawingml/2006/main" prst="rect">
            <a:avLst/>
          </a:prstGeom>
          <a:solidFill xmlns:a="http://schemas.openxmlformats.org/drawingml/2006/main">
            <a:srgbClr val="E7F1EE"/>
          </a:solidFill>
          <a:ln xmlns:a="http://schemas.openxmlformats.org/drawingml/2006/main" w="9525">
            <a:solidFill>
              <a:srgbClr val="17645E"/>
            </a:solidFill>
            <a:prstDash val="solid"/>
          </a:ln>
        </p:spPr>
      </p:sp>
      <p:sp>
        <p:nvSpPr>
          <p:cNvPr id="7" name="stage-head-1">
            <a:extLst xmlns:a="http://schemas.openxmlformats.org/drawingml/2006/main">
              <a:ext uri="{FF2B5EF4-FFF2-40B4-BE49-F238E27FC236}">
                <a16:creationId xmlns:a16="http://schemas.microsoft.com/office/drawing/2014/main" id="{E418D9BB-5BA9-46CC-BC28-D8C954A52F8B}"/>
              </a:ext>
            </a:extLst>
          </p:cNvPr>
          <p:cNvSpPr>
            <a:spLocks xmlns:a="http://schemas.openxmlformats.org/drawingml/2006/main" noGrp="1"/>
          </p:cNvSpPr>
          <p:nvPr/>
        </p:nvSpPr>
        <p:spPr>
          <a:xfrm xmlns:a="http://schemas.openxmlformats.org/drawingml/2006/main">
            <a:off x="4848225" y="2409825"/>
            <a:ext cx="2495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i="0">
                <a:solidFill>
                  <a:srgbClr val="193A37"/>
                </a:solidFill>
                <a:latin typeface="Arial"/>
                <a:ea typeface="Arial"/>
                <a:cs typeface="Arial"/>
              </a:defRPr>
            </a:pPr>
            <a:r>
              <a:rPr sz="2175" b="1" i="0">
                <a:solidFill>
                  <a:srgbClr val="193A37"/>
                </a:solidFill>
                <a:latin typeface="Arial"/>
                <a:ea typeface="Arial"/>
                <a:cs typeface="Arial"/>
              </a:rPr>
              <a:t>Hedron + FastAPI</a:t>
            </a:r>
          </a:p>
        </p:txBody>
      </p:sp>
      <p:sp>
        <p:nvSpPr>
          <p:cNvPr id="8" name="stage-sub-1">
            <a:extLst xmlns:a="http://schemas.openxmlformats.org/drawingml/2006/main">
              <a:ext uri="{FF2B5EF4-FFF2-40B4-BE49-F238E27FC236}">
                <a16:creationId xmlns:a16="http://schemas.microsoft.com/office/drawing/2014/main" id="{10BF4F6B-B62F-4C52-9047-19403AD044D0}"/>
              </a:ext>
            </a:extLst>
          </p:cNvPr>
          <p:cNvSpPr>
            <a:spLocks xmlns:a="http://schemas.openxmlformats.org/drawingml/2006/main" noGrp="1"/>
          </p:cNvSpPr>
          <p:nvPr/>
        </p:nvSpPr>
        <p:spPr>
          <a:xfrm xmlns:a="http://schemas.openxmlformats.org/drawingml/2006/main">
            <a:off x="4848225" y="2952750"/>
            <a:ext cx="2495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52645F"/>
                </a:solidFill>
                <a:latin typeface="Arial"/>
                <a:ea typeface="Arial"/>
                <a:cs typeface="Arial"/>
              </a:defRPr>
            </a:pPr>
            <a:r>
              <a:rPr sz="1575" b="0" i="0">
                <a:solidFill>
                  <a:srgbClr val="52645F"/>
                </a:solidFill>
                <a:latin typeface="Arial"/>
                <a:ea typeface="Arial"/>
                <a:cs typeface="Arial"/>
              </a:rPr>
              <a:t>Route, validation, security</a:t>
            </a:r>
          </a:p>
        </p:txBody>
      </p:sp>
      <p:sp>
        <p:nvSpPr>
          <p:cNvPr id="9" name="request-stage-2">
            <a:extLst xmlns:a="http://schemas.openxmlformats.org/drawingml/2006/main">
              <a:ext uri="{FF2B5EF4-FFF2-40B4-BE49-F238E27FC236}">
                <a16:creationId xmlns:a16="http://schemas.microsoft.com/office/drawing/2014/main" id="{CC504A8A-FDE3-4BC1-B8DD-4D24098229E6}"/>
              </a:ext>
            </a:extLst>
          </p:cNvPr>
          <p:cNvSpPr>
            <a:spLocks xmlns:a="http://schemas.openxmlformats.org/drawingml/2006/main" noGrp="1"/>
          </p:cNvSpPr>
          <p:nvPr/>
        </p:nvSpPr>
        <p:spPr>
          <a:xfrm xmlns:a="http://schemas.openxmlformats.org/drawingml/2006/main">
            <a:off x="8839200" y="2200275"/>
            <a:ext cx="2571750" cy="1504950"/>
          </a:xfrm>
          <a:prstGeom xmlns:a="http://schemas.openxmlformats.org/drawingml/2006/main" prst="rect">
            <a:avLst/>
          </a:prstGeom>
          <a:solidFill xmlns:a="http://schemas.openxmlformats.org/drawingml/2006/main">
            <a:srgbClr val="E7F1EE"/>
          </a:solidFill>
          <a:ln xmlns:a="http://schemas.openxmlformats.org/drawingml/2006/main" w="9525">
            <a:solidFill>
              <a:srgbClr val="17645E"/>
            </a:solidFill>
            <a:prstDash val="solid"/>
          </a:ln>
        </p:spPr>
      </p:sp>
      <p:sp>
        <p:nvSpPr>
          <p:cNvPr id="10" name="stage-head-2">
            <a:extLst xmlns:a="http://schemas.openxmlformats.org/drawingml/2006/main">
              <a:ext uri="{FF2B5EF4-FFF2-40B4-BE49-F238E27FC236}">
                <a16:creationId xmlns:a16="http://schemas.microsoft.com/office/drawing/2014/main" id="{6356311C-B82C-45AE-AD3C-A2705BD03D75}"/>
              </a:ext>
            </a:extLst>
          </p:cNvPr>
          <p:cNvSpPr>
            <a:spLocks xmlns:a="http://schemas.openxmlformats.org/drawingml/2006/main" noGrp="1"/>
          </p:cNvSpPr>
          <p:nvPr/>
        </p:nvSpPr>
        <p:spPr>
          <a:xfrm xmlns:a="http://schemas.openxmlformats.org/drawingml/2006/main">
            <a:off x="9020175" y="2409825"/>
            <a:ext cx="22098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i="0">
                <a:solidFill>
                  <a:srgbClr val="193A37"/>
                </a:solidFill>
                <a:latin typeface="Arial"/>
                <a:ea typeface="Arial"/>
                <a:cs typeface="Arial"/>
              </a:defRPr>
            </a:pPr>
            <a:r>
              <a:rPr sz="2175" b="1" i="0">
                <a:solidFill>
                  <a:srgbClr val="193A37"/>
                </a:solidFill>
                <a:latin typeface="Arial"/>
                <a:ea typeface="Arial"/>
                <a:cs typeface="Arial"/>
              </a:rPr>
              <a:t>Python services</a:t>
            </a:r>
          </a:p>
        </p:txBody>
      </p:sp>
      <p:sp>
        <p:nvSpPr>
          <p:cNvPr id="11" name="stage-sub-2">
            <a:extLst xmlns:a="http://schemas.openxmlformats.org/drawingml/2006/main">
              <a:ext uri="{FF2B5EF4-FFF2-40B4-BE49-F238E27FC236}">
                <a16:creationId xmlns:a16="http://schemas.microsoft.com/office/drawing/2014/main" id="{1082A9E4-491A-4D8F-90F4-F4465CA28B92}"/>
              </a:ext>
            </a:extLst>
          </p:cNvPr>
          <p:cNvSpPr>
            <a:spLocks xmlns:a="http://schemas.openxmlformats.org/drawingml/2006/main" noGrp="1"/>
          </p:cNvSpPr>
          <p:nvPr/>
        </p:nvSpPr>
        <p:spPr>
          <a:xfrm xmlns:a="http://schemas.openxmlformats.org/drawingml/2006/main">
            <a:off x="9020175" y="29527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52645F"/>
                </a:solidFill>
                <a:latin typeface="Arial"/>
                <a:ea typeface="Arial"/>
                <a:cs typeface="Arial"/>
              </a:defRPr>
            </a:pPr>
            <a:r>
              <a:rPr sz="1575" b="0" i="0">
                <a:solidFill>
                  <a:srgbClr val="52645F"/>
                </a:solidFill>
                <a:latin typeface="Arial"/>
                <a:ea typeface="Arial"/>
                <a:cs typeface="Arial"/>
              </a:rPr>
              <a:t>Data, models, jobs</a:t>
            </a:r>
          </a:p>
        </p:txBody>
      </p:sp>
      <p:sp>
        <p:nvSpPr>
          <p:cNvPr id="12" name="request-arrow-1">
            <a:extLst xmlns:a="http://schemas.openxmlformats.org/drawingml/2006/main">
              <a:ext uri="{FF2B5EF4-FFF2-40B4-BE49-F238E27FC236}">
                <a16:creationId xmlns:a16="http://schemas.microsoft.com/office/drawing/2014/main" id="{C66C0112-DD29-497B-AE0B-105F45ADCA57}"/>
              </a:ext>
            </a:extLst>
          </p:cNvPr>
          <p:cNvSpPr>
            <a:spLocks xmlns:a="http://schemas.openxmlformats.org/drawingml/2006/main" noGrp="1"/>
          </p:cNvSpPr>
          <p:nvPr/>
        </p:nvSpPr>
        <p:spPr>
          <a:xfrm xmlns:a="http://schemas.openxmlformats.org/drawingml/2006/main">
            <a:off x="3657600" y="2724150"/>
            <a:ext cx="666750" cy="390525"/>
          </a:xfrm>
          <a:prstGeom xmlns:a="http://schemas.openxmlformats.org/drawingml/2006/main" prst="rightArrow">
            <a:avLst/>
          </a:prstGeom>
          <a:solidFill xmlns:a="http://schemas.openxmlformats.org/drawingml/2006/main">
            <a:srgbClr val="17645E"/>
          </a:solidFill>
          <a:ln xmlns:a="http://schemas.openxmlformats.org/drawingml/2006/main" w="0">
            <a:noFill/>
          </a:ln>
        </p:spPr>
      </p:sp>
      <p:sp>
        <p:nvSpPr>
          <p:cNvPr id="13" name="request-arrow-2">
            <a:extLst xmlns:a="http://schemas.openxmlformats.org/drawingml/2006/main">
              <a:ext uri="{FF2B5EF4-FFF2-40B4-BE49-F238E27FC236}">
                <a16:creationId xmlns:a16="http://schemas.microsoft.com/office/drawing/2014/main" id="{3F82C417-5779-4CE9-840F-99D779DD59A6}"/>
              </a:ext>
            </a:extLst>
          </p:cNvPr>
          <p:cNvSpPr>
            <a:spLocks xmlns:a="http://schemas.openxmlformats.org/drawingml/2006/main" noGrp="1"/>
          </p:cNvSpPr>
          <p:nvPr/>
        </p:nvSpPr>
        <p:spPr>
          <a:xfrm xmlns:a="http://schemas.openxmlformats.org/drawingml/2006/main">
            <a:off x="7791450" y="2724150"/>
            <a:ext cx="666750" cy="390525"/>
          </a:xfrm>
          <a:prstGeom xmlns:a="http://schemas.openxmlformats.org/drawingml/2006/main" prst="rightArrow">
            <a:avLst/>
          </a:prstGeom>
          <a:solidFill xmlns:a="http://schemas.openxmlformats.org/drawingml/2006/main">
            <a:srgbClr val="17645E"/>
          </a:solidFill>
          <a:ln xmlns:a="http://schemas.openxmlformats.org/drawingml/2006/main" w="0">
            <a:noFill/>
          </a:ln>
        </p:spPr>
      </p:sp>
      <p:sp>
        <p:nvSpPr>
          <p:cNvPr id="14" name="response-line">
            <a:extLst xmlns:a="http://schemas.openxmlformats.org/drawingml/2006/main">
              <a:ext uri="{FF2B5EF4-FFF2-40B4-BE49-F238E27FC236}">
                <a16:creationId xmlns:a16="http://schemas.microsoft.com/office/drawing/2014/main" id="{AA8211E8-41F7-4021-91C1-479765651DC4}"/>
              </a:ext>
            </a:extLst>
          </p:cNvPr>
          <p:cNvSpPr>
            <a:spLocks xmlns:a="http://schemas.openxmlformats.org/drawingml/2006/main" noGrp="1"/>
          </p:cNvSpPr>
          <p:nvPr/>
        </p:nvSpPr>
        <p:spPr>
          <a:xfrm xmlns:a="http://schemas.openxmlformats.org/drawingml/2006/main">
            <a:off x="733425" y="451485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250" b="0" i="0">
                <a:solidFill>
                  <a:srgbClr val="17645E"/>
                </a:solidFill>
                <a:latin typeface="Georgia"/>
                <a:ea typeface="Georgia"/>
                <a:cs typeface="Georgia"/>
              </a:defRPr>
            </a:pPr>
            <a:r>
              <a:rPr sz="2250" b="0" i="0">
                <a:solidFill>
                  <a:srgbClr val="17645E"/>
                </a:solidFill>
                <a:latin typeface="Georgia"/>
                <a:ea typeface="Georgia"/>
                <a:cs typeface="Georgia"/>
              </a:rPr>
              <a:t>The route returns safe HTML. The browser changes the full page or one declared region.</a:t>
            </a:r>
          </a:p>
        </p:txBody>
      </p:sp>
    </p:spTree>
    <p:extLst>
      <p:ext uri="{BB962C8B-B14F-4D97-AF65-F5344CB8AC3E}">
        <p14:creationId xmlns:p14="http://schemas.microsoft.com/office/powerpoint/2010/main" val="167105209"/>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title-5">
            <a:extLst xmlns:a="http://schemas.openxmlformats.org/drawingml/2006/main">
              <a:ext uri="{FF2B5EF4-FFF2-40B4-BE49-F238E27FC236}">
                <a16:creationId xmlns:a16="http://schemas.microsoft.com/office/drawing/2014/main" id="{82EF1FD0-DD06-4613-89E2-B61271E3A66A}"/>
              </a:ext>
            </a:extLst>
          </p:cNvPr>
          <p:cNvSpPr>
            <a:spLocks xmlns:a="http://schemas.openxmlformats.org/drawingml/2006/main" noGrp="1"/>
          </p:cNvSpPr>
          <p:nvPr/>
        </p:nvSpPr>
        <p:spPr>
          <a:xfrm xmlns:a="http://schemas.openxmlformats.org/drawingml/2006/main">
            <a:off x="685800" y="4191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93A37"/>
                </a:solidFill>
                <a:latin typeface="Georgia"/>
                <a:ea typeface="Georgia"/>
                <a:cs typeface="Georgia"/>
              </a:defRPr>
            </a:pPr>
            <a:r>
              <a:rPr sz="3150" b="0" i="0">
                <a:solidFill>
                  <a:srgbClr val="193A37"/>
                </a:solidFill>
                <a:latin typeface="Georgia"/>
                <a:ea typeface="Georgia"/>
                <a:cs typeface="Georgia"/>
              </a:rPr>
              <a:t>A small app</a:t>
            </a:r>
          </a:p>
        </p:txBody>
      </p:sp>
      <p:sp>
        <p:nvSpPr>
          <p:cNvPr id="2" name="page-5">
            <a:extLst xmlns:a="http://schemas.openxmlformats.org/drawingml/2006/main">
              <a:ext uri="{FF2B5EF4-FFF2-40B4-BE49-F238E27FC236}">
                <a16:creationId xmlns:a16="http://schemas.microsoft.com/office/drawing/2014/main" id="{52508652-0AC2-418F-8C43-C45DCA1C95CD}"/>
              </a:ext>
            </a:extLst>
          </p:cNvPr>
          <p:cNvSpPr>
            <a:spLocks xmlns:a="http://schemas.openxmlformats.org/drawingml/2006/main" noGrp="1"/>
          </p:cNvSpPr>
          <p:nvPr/>
        </p:nvSpPr>
        <p:spPr>
          <a:xfrm xmlns:a="http://schemas.openxmlformats.org/drawingml/2006/main">
            <a:off x="11372850" y="641032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52645F"/>
                </a:solidFill>
                <a:latin typeface="Arial"/>
                <a:ea typeface="Arial"/>
                <a:cs typeface="Arial"/>
              </a:defRPr>
            </a:pPr>
            <a:r>
              <a:rPr sz="1050" b="0" i="0">
                <a:solidFill>
                  <a:srgbClr val="52645F"/>
                </a:solidFill>
                <a:latin typeface="Arial"/>
                <a:ea typeface="Arial"/>
                <a:cs typeface="Arial"/>
              </a:rPr>
              <a:t>05</a:t>
            </a:r>
          </a:p>
        </p:txBody>
      </p:sp>
      <p:sp>
        <p:nvSpPr>
          <p:cNvPr id="3" name="sample-code">
            <a:extLst xmlns:a="http://schemas.openxmlformats.org/drawingml/2006/main">
              <a:ext uri="{FF2B5EF4-FFF2-40B4-BE49-F238E27FC236}">
                <a16:creationId xmlns:a16="http://schemas.microsoft.com/office/drawing/2014/main" id="{AC399A2A-EC92-46EE-B06E-13312DFE1E64}"/>
              </a:ext>
            </a:extLst>
          </p:cNvPr>
          <p:cNvSpPr>
            <a:spLocks xmlns:a="http://schemas.openxmlformats.org/drawingml/2006/main" noGrp="1"/>
          </p:cNvSpPr>
          <p:nvPr/>
        </p:nvSpPr>
        <p:spPr>
          <a:xfrm xmlns:a="http://schemas.openxmlformats.org/drawingml/2006/main">
            <a:off x="685800" y="1457325"/>
            <a:ext cx="7429500" cy="4457700"/>
          </a:xfrm>
          <a:prstGeom xmlns:a="http://schemas.openxmlformats.org/drawingml/2006/main" prst="rect">
            <a:avLst/>
          </a:prstGeom>
          <a:solidFill xmlns:a="http://schemas.openxmlformats.org/drawingml/2006/main">
            <a:srgbClr val="F1F3F0"/>
          </a:solidFill>
          <a:ln xmlns:a="http://schemas.openxmlformats.org/drawingml/2006/main" w="0">
            <a:noFill/>
            <a:prstDash val="solid"/>
          </a:ln>
        </p:spPr>
        <p:txBody>
          <a:bodyPr xmlns:a="http://schemas.openxmlformats.org/drawingml/2006/main" wrap="square" lIns="200025" tIns="171450" rIns="171450" bIns="114300" anchor="t">
            <a:noAutofit/>
          </a:bodyPr>
          <a:lstStyle xmlns:a="http://schemas.openxmlformats.org/drawingml/2006/main"/>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import os</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from hedron import Stack, Text</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from hedron_posit import HedronPosit</a:t>
            </a:r>
          </a:p>
          <a:p xmlns:a="http://schemas.openxmlformats.org/drawingml/2006/main">
            <a:r>
              <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app = HedronPosit(</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    title="Operations",</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    security="standard",</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    session_secret=os.environ["HEDRON_SESSION_SECRET"],</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a:t>
            </a:r>
          </a:p>
          <a:p xmlns:a="http://schemas.openxmlformats.org/drawingml/2006/main">
            <a:r>
              <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@app.view("/status")</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def status():</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    return Text("All systems operational")</a:t>
            </a:r>
          </a:p>
          <a:p xmlns:a="http://schemas.openxmlformats.org/drawingml/2006/main">
            <a:r>
              <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@app.page("/")</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def home():</a:t>
            </a:r>
          </a:p>
          <a:p xmlns:a="http://schemas.openxmlformats.org/drawingml/2006/main">
            <a:pPr algn="l">
              <a:lnSpc>
                <a:spcPct val="100000"/>
              </a:lnSpc>
              <a:buNone/>
              <a:defRPr sz="1425" b="0" i="0">
                <a:solidFill>
                  <a:srgbClr val="253230"/>
                </a:solidFill>
                <a:latin typeface="Menlo"/>
                <a:ea typeface="Menlo"/>
                <a:cs typeface="Menlo"/>
              </a:defRPr>
            </a:pPr>
            <a:r>
              <a:rPr sz="1425" b="0" i="0">
                <a:solidFill>
                  <a:srgbClr val="253230"/>
                </a:solidFill>
                <a:latin typeface="Menlo"/>
                <a:ea typeface="Menlo"/>
                <a:cs typeface="Menlo"/>
              </a:rPr>
              <a:t>    return Stack(status(), status.refresh_button("Refresh"))</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36d010b08b7418b"/>
          <a:srcRect xmlns:a="http://schemas.openxmlformats.org/drawingml/2006/main" l="14564" t="0" r="14564" b="0"/>
          <a:stretch xmlns:a="http://schemas.openxmlformats.org/drawingml/2006/main">
            <a:fillRect l="0" t="0" r="0" b="0"/>
          </a:stretch>
        </p:blipFill>
        <p:spPr>
          <a:xfrm xmlns:a="http://schemas.openxmlformats.org/drawingml/2006/main">
            <a:off x="8420100" y="2171700"/>
            <a:ext cx="2990850" cy="2809875"/>
          </a:xfrm>
          <a:prstGeom xmlns:a="http://schemas.openxmlformats.org/drawingml/2006/main" prst="rect">
            <a:avLst/>
          </a:prstGeom>
        </p:spPr>
      </p:pic>
      <p:sp>
        <p:nvSpPr>
          <p:cNvPr id="5" name="code-takeaway">
            <a:extLst xmlns:a="http://schemas.openxmlformats.org/drawingml/2006/main">
              <a:ext uri="{FF2B5EF4-FFF2-40B4-BE49-F238E27FC236}">
                <a16:creationId xmlns:a16="http://schemas.microsoft.com/office/drawing/2014/main" id="{D767D4FE-6672-4AFD-9814-CE69DBD3477C}"/>
              </a:ext>
            </a:extLst>
          </p:cNvPr>
          <p:cNvSpPr>
            <a:spLocks xmlns:a="http://schemas.openxmlformats.org/drawingml/2006/main" noGrp="1"/>
          </p:cNvSpPr>
          <p:nvPr/>
        </p:nvSpPr>
        <p:spPr>
          <a:xfrm xmlns:a="http://schemas.openxmlformats.org/drawingml/2006/main">
            <a:off x="8439150" y="5095875"/>
            <a:ext cx="29051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i="0">
                <a:solidFill>
                  <a:srgbClr val="17645E"/>
                </a:solidFill>
                <a:latin typeface="Arial"/>
                <a:ea typeface="Arial"/>
                <a:cs typeface="Arial"/>
              </a:defRPr>
            </a:pPr>
            <a:r>
              <a:rPr sz="1725" b="1" i="0">
                <a:solidFill>
                  <a:srgbClr val="17645E"/>
                </a:solidFill>
                <a:latin typeface="Arial"/>
                <a:ea typeface="Arial"/>
                <a:cs typeface="Arial"/>
              </a:rPr>
              <a:t>One app object.</a:t>
            </a:r>
          </a:p>
          <a:p xmlns:a="http://schemas.openxmlformats.org/drawingml/2006/main">
            <a:pPr algn="l">
              <a:lnSpc>
                <a:spcPct val="105000"/>
              </a:lnSpc>
              <a:buNone/>
              <a:defRPr sz="1725" b="1" i="0">
                <a:solidFill>
                  <a:srgbClr val="17645E"/>
                </a:solidFill>
                <a:latin typeface="Arial"/>
                <a:ea typeface="Arial"/>
                <a:cs typeface="Arial"/>
              </a:defRPr>
            </a:pPr>
            <a:r>
              <a:rPr sz="1725" b="1" i="0">
                <a:solidFill>
                  <a:srgbClr val="17645E"/>
                </a:solidFill>
                <a:latin typeface="Arial"/>
                <a:ea typeface="Arial"/>
                <a:cs typeface="Arial"/>
              </a:rPr>
              <a:t>Explicit routes.</a:t>
            </a:r>
          </a:p>
          <a:p xmlns:a="http://schemas.openxmlformats.org/drawingml/2006/main">
            <a:pPr algn="l">
              <a:lnSpc>
                <a:spcPct val="105000"/>
              </a:lnSpc>
              <a:buNone/>
              <a:defRPr sz="1725" b="1" i="0">
                <a:solidFill>
                  <a:srgbClr val="17645E"/>
                </a:solidFill>
                <a:latin typeface="Arial"/>
                <a:ea typeface="Arial"/>
                <a:cs typeface="Arial"/>
              </a:defRPr>
            </a:pPr>
            <a:r>
              <a:rPr sz="1725" b="1" i="0">
                <a:solidFill>
                  <a:srgbClr val="17645E"/>
                </a:solidFill>
                <a:latin typeface="Arial"/>
                <a:ea typeface="Arial"/>
                <a:cs typeface="Arial"/>
              </a:rPr>
              <a:t>Python components.</a:t>
            </a:r>
          </a:p>
        </p:txBody>
      </p:sp>
    </p:spTree>
    <p:extLst>
      <p:ext uri="{BB962C8B-B14F-4D97-AF65-F5344CB8AC3E}">
        <p14:creationId xmlns:p14="http://schemas.microsoft.com/office/powerpoint/2010/main" val="222520860"/>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8" name="title-6">
            <a:extLst xmlns:a="http://schemas.openxmlformats.org/drawingml/2006/main">
              <a:ext uri="{FF2B5EF4-FFF2-40B4-BE49-F238E27FC236}">
                <a16:creationId xmlns:a16="http://schemas.microsoft.com/office/drawing/2014/main" id="{A159EBCE-1834-402C-8908-4FEF0B49208E}"/>
              </a:ext>
            </a:extLst>
          </p:cNvPr>
          <p:cNvSpPr>
            <a:spLocks xmlns:a="http://schemas.openxmlformats.org/drawingml/2006/main" noGrp="1"/>
          </p:cNvSpPr>
          <p:nvPr/>
        </p:nvSpPr>
        <p:spPr>
          <a:xfrm xmlns:a="http://schemas.openxmlformats.org/drawingml/2006/main">
            <a:off x="685800" y="4191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93A37"/>
                </a:solidFill>
                <a:latin typeface="Georgia"/>
                <a:ea typeface="Georgia"/>
                <a:cs typeface="Georgia"/>
              </a:defRPr>
            </a:pPr>
            <a:r>
              <a:rPr sz="3150" b="0" i="0">
                <a:solidFill>
                  <a:srgbClr val="193A37"/>
                </a:solidFill>
                <a:latin typeface="Georgia"/>
                <a:ea typeface="Georgia"/>
                <a:cs typeface="Georgia"/>
              </a:rPr>
              <a:t>Data and visualization work</a:t>
            </a:r>
          </a:p>
        </p:txBody>
      </p:sp>
      <p:sp>
        <p:nvSpPr>
          <p:cNvPr id="2" name="page-6">
            <a:extLst xmlns:a="http://schemas.openxmlformats.org/drawingml/2006/main">
              <a:ext uri="{FF2B5EF4-FFF2-40B4-BE49-F238E27FC236}">
                <a16:creationId xmlns:a16="http://schemas.microsoft.com/office/drawing/2014/main" id="{E331FCA3-720E-44B8-8A31-3F445113EAEB}"/>
              </a:ext>
            </a:extLst>
          </p:cNvPr>
          <p:cNvSpPr>
            <a:spLocks xmlns:a="http://schemas.openxmlformats.org/drawingml/2006/main" noGrp="1"/>
          </p:cNvSpPr>
          <p:nvPr/>
        </p:nvSpPr>
        <p:spPr>
          <a:xfrm xmlns:a="http://schemas.openxmlformats.org/drawingml/2006/main">
            <a:off x="11372850" y="641032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52645F"/>
                </a:solidFill>
                <a:latin typeface="Arial"/>
                <a:ea typeface="Arial"/>
                <a:cs typeface="Arial"/>
              </a:defRPr>
            </a:pPr>
            <a:r>
              <a:rPr sz="1050" b="0" i="0">
                <a:solidFill>
                  <a:srgbClr val="52645F"/>
                </a:solidFill>
                <a:latin typeface="Arial"/>
                <a:ea typeface="Arial"/>
                <a:cs typeface="Arial"/>
              </a:rPr>
              <a:t>06</a:t>
            </a:r>
          </a:p>
        </p:txBody>
      </p:sp>
      <p:sp>
        <p:nvSpPr>
          <p:cNvPr id="3" name="data-intro">
            <a:extLst xmlns:a="http://schemas.openxmlformats.org/drawingml/2006/main">
              <a:ext uri="{FF2B5EF4-FFF2-40B4-BE49-F238E27FC236}">
                <a16:creationId xmlns:a16="http://schemas.microsoft.com/office/drawing/2014/main" id="{D7963343-CB0C-449A-885E-2E044903E0E2}"/>
              </a:ext>
            </a:extLst>
          </p:cNvPr>
          <p:cNvSpPr>
            <a:spLocks xmlns:a="http://schemas.openxmlformats.org/drawingml/2006/main" noGrp="1"/>
          </p:cNvSpPr>
          <p:nvPr/>
        </p:nvSpPr>
        <p:spPr>
          <a:xfrm xmlns:a="http://schemas.openxmlformats.org/drawingml/2006/main">
            <a:off x="733425" y="1485900"/>
            <a:ext cx="1057275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925" b="0" i="0">
                <a:solidFill>
                  <a:srgbClr val="17645E"/>
                </a:solidFill>
                <a:latin typeface="Georgia"/>
                <a:ea typeface="Georgia"/>
                <a:cs typeface="Georgia"/>
              </a:defRPr>
            </a:pPr>
            <a:r>
              <a:rPr sz="2925" b="0" i="0">
                <a:solidFill>
                  <a:srgbClr val="17645E"/>
                </a:solidFill>
                <a:latin typeface="Georgia"/>
                <a:ea typeface="Georgia"/>
                <a:cs typeface="Georgia"/>
              </a:rPr>
              <a:t>Keep Python data logic. Add a web interface.</a:t>
            </a:r>
          </a:p>
        </p:txBody>
      </p:sp>
      <p:sp>
        <p:nvSpPr>
          <p:cNvPr id="4" name="data-left-head">
            <a:extLst xmlns:a="http://schemas.openxmlformats.org/drawingml/2006/main">
              <a:ext uri="{FF2B5EF4-FFF2-40B4-BE49-F238E27FC236}">
                <a16:creationId xmlns:a16="http://schemas.microsoft.com/office/drawing/2014/main" id="{A4AC53BB-765A-4B40-806B-43347398E062}"/>
              </a:ext>
            </a:extLst>
          </p:cNvPr>
          <p:cNvSpPr>
            <a:spLocks xmlns:a="http://schemas.openxmlformats.org/drawingml/2006/main" noGrp="1"/>
          </p:cNvSpPr>
          <p:nvPr/>
        </p:nvSpPr>
        <p:spPr>
          <a:xfrm xmlns:a="http://schemas.openxmlformats.org/drawingml/2006/main">
            <a:off x="762000" y="294322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i="0">
                <a:solidFill>
                  <a:srgbClr val="193A37"/>
                </a:solidFill>
                <a:latin typeface="Arial"/>
                <a:ea typeface="Arial"/>
                <a:cs typeface="Arial"/>
              </a:defRPr>
            </a:pPr>
            <a:r>
              <a:rPr sz="2100" b="1" i="0">
                <a:solidFill>
                  <a:srgbClr val="193A37"/>
                </a:solidFill>
                <a:latin typeface="Arial"/>
                <a:ea typeface="Arial"/>
                <a:cs typeface="Arial"/>
              </a:rPr>
              <a:t>In Hedron</a:t>
            </a:r>
          </a:p>
        </p:txBody>
      </p:sp>
      <p:sp>
        <p:nvSpPr>
          <p:cNvPr id="5" name="data-left-body">
            <a:extLst xmlns:a="http://schemas.openxmlformats.org/drawingml/2006/main">
              <a:ext uri="{FF2B5EF4-FFF2-40B4-BE49-F238E27FC236}">
                <a16:creationId xmlns:a16="http://schemas.microsoft.com/office/drawing/2014/main" id="{DB08521C-1A8B-47B3-BEF9-258CD90704FA}"/>
              </a:ext>
            </a:extLst>
          </p:cNvPr>
          <p:cNvSpPr>
            <a:spLocks xmlns:a="http://schemas.openxmlformats.org/drawingml/2006/main" noGrp="1"/>
          </p:cNvSpPr>
          <p:nvPr/>
        </p:nvSpPr>
        <p:spPr>
          <a:xfrm xmlns:a="http://schemas.openxmlformats.org/drawingml/2006/main">
            <a:off x="762000" y="3524250"/>
            <a:ext cx="489585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i="0">
                <a:solidFill>
                  <a:srgbClr val="193A37"/>
                </a:solidFill>
                <a:latin typeface="Arial"/>
                <a:ea typeface="Arial"/>
                <a:cs typeface="Arial"/>
              </a:defRPr>
            </a:pPr>
            <a:r>
              <a:rPr sz="1800" b="0" i="0">
                <a:solidFill>
                  <a:srgbClr val="193A37"/>
                </a:solidFill>
                <a:latin typeface="Arial"/>
                <a:ea typeface="Arial"/>
                <a:cs typeface="Arial"/>
              </a:rPr>
              <a:t>Tables, forms, metrics, charts and maps</a:t>
            </a:r>
          </a:p>
          <a:p xmlns:a="http://schemas.openxmlformats.org/drawingml/2006/main">
            <a:r>
              <a:t/>
            </a:r>
          </a:p>
          <a:p xmlns:a="http://schemas.openxmlformats.org/drawingml/2006/main">
            <a:pPr algn="l">
              <a:lnSpc>
                <a:spcPct val="108000"/>
              </a:lnSpc>
              <a:buNone/>
              <a:defRPr sz="1800" b="0" i="0">
                <a:solidFill>
                  <a:srgbClr val="193A37"/>
                </a:solidFill>
                <a:latin typeface="Arial"/>
                <a:ea typeface="Arial"/>
                <a:cs typeface="Arial"/>
              </a:defRPr>
            </a:pPr>
            <a:r>
              <a:rPr sz="1800" b="0" i="0">
                <a:solidFill>
                  <a:srgbClr val="193A37"/>
                </a:solidFill>
                <a:latin typeface="Arial"/>
                <a:ea typeface="Arial"/>
                <a:cs typeface="Arial"/>
              </a:rPr>
              <a:t>Validated filters and explicit write actions</a:t>
            </a:r>
          </a:p>
          <a:p xmlns:a="http://schemas.openxmlformats.org/drawingml/2006/main">
            <a:r>
              <a:t/>
            </a:r>
          </a:p>
          <a:p xmlns:a="http://schemas.openxmlformats.org/drawingml/2006/main">
            <a:pPr algn="l">
              <a:lnSpc>
                <a:spcPct val="108000"/>
              </a:lnSpc>
              <a:buNone/>
              <a:defRPr sz="1800" b="0" i="0">
                <a:solidFill>
                  <a:srgbClr val="193A37"/>
                </a:solidFill>
                <a:latin typeface="Arial"/>
                <a:ea typeface="Arial"/>
                <a:cs typeface="Arial"/>
              </a:defRPr>
            </a:pPr>
            <a:r>
              <a:rPr sz="1800" b="0" i="0">
                <a:solidFill>
                  <a:srgbClr val="193A37"/>
                </a:solidFill>
                <a:latin typeface="Arial"/>
                <a:ea typeface="Arial"/>
                <a:cs typeface="Arial"/>
              </a:rPr>
              <a:t>FastAPI JSON routes beside HTML</a:t>
            </a:r>
          </a:p>
        </p:txBody>
      </p:sp>
      <p:sp>
        <p:nvSpPr>
          <p:cNvPr id="6" name="data-right-head">
            <a:extLst xmlns:a="http://schemas.openxmlformats.org/drawingml/2006/main">
              <a:ext uri="{FF2B5EF4-FFF2-40B4-BE49-F238E27FC236}">
                <a16:creationId xmlns:a16="http://schemas.microsoft.com/office/drawing/2014/main" id="{C355BCE7-2177-46DC-9337-C402BD8E79B4}"/>
              </a:ext>
            </a:extLst>
          </p:cNvPr>
          <p:cNvSpPr>
            <a:spLocks xmlns:a="http://schemas.openxmlformats.org/drawingml/2006/main" noGrp="1"/>
          </p:cNvSpPr>
          <p:nvPr/>
        </p:nvSpPr>
        <p:spPr>
          <a:xfrm xmlns:a="http://schemas.openxmlformats.org/drawingml/2006/main">
            <a:off x="6448425" y="294322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i="0">
                <a:solidFill>
                  <a:srgbClr val="193A37"/>
                </a:solidFill>
                <a:latin typeface="Arial"/>
                <a:ea typeface="Arial"/>
                <a:cs typeface="Arial"/>
              </a:defRPr>
            </a:pPr>
            <a:r>
              <a:rPr sz="2100" b="1" i="0">
                <a:solidFill>
                  <a:srgbClr val="193A37"/>
                </a:solidFill>
                <a:latin typeface="Arial"/>
                <a:ea typeface="Arial"/>
                <a:cs typeface="Arial"/>
              </a:rPr>
              <a:t>In your services</a:t>
            </a:r>
          </a:p>
        </p:txBody>
      </p:sp>
      <p:sp>
        <p:nvSpPr>
          <p:cNvPr id="7" name="data-right-body">
            <a:extLst xmlns:a="http://schemas.openxmlformats.org/drawingml/2006/main">
              <a:ext uri="{FF2B5EF4-FFF2-40B4-BE49-F238E27FC236}">
                <a16:creationId xmlns:a16="http://schemas.microsoft.com/office/drawing/2014/main" id="{5C3023EF-01C7-425C-B3F2-E118CDB9B2FA}"/>
              </a:ext>
            </a:extLst>
          </p:cNvPr>
          <p:cNvSpPr>
            <a:spLocks xmlns:a="http://schemas.openxmlformats.org/drawingml/2006/main" noGrp="1"/>
          </p:cNvSpPr>
          <p:nvPr/>
        </p:nvSpPr>
        <p:spPr>
          <a:xfrm xmlns:a="http://schemas.openxmlformats.org/drawingml/2006/main">
            <a:off x="6448425" y="3524250"/>
            <a:ext cx="47625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i="0">
                <a:solidFill>
                  <a:srgbClr val="193A37"/>
                </a:solidFill>
                <a:latin typeface="Arial"/>
                <a:ea typeface="Arial"/>
                <a:cs typeface="Arial"/>
              </a:defRPr>
            </a:pPr>
            <a:r>
              <a:rPr sz="1800" b="0" i="0">
                <a:solidFill>
                  <a:srgbClr val="193A37"/>
                </a:solidFill>
                <a:latin typeface="Arial"/>
                <a:ea typeface="Arial"/>
                <a:cs typeface="Arial"/>
              </a:rPr>
              <a:t>Pandas, SQL and model code</a:t>
            </a:r>
          </a:p>
          <a:p xmlns:a="http://schemas.openxmlformats.org/drawingml/2006/main">
            <a:r>
              <a:t/>
            </a:r>
          </a:p>
          <a:p xmlns:a="http://schemas.openxmlformats.org/drawingml/2006/main">
            <a:pPr algn="l">
              <a:lnSpc>
                <a:spcPct val="108000"/>
              </a:lnSpc>
              <a:buNone/>
              <a:defRPr sz="1800" b="0" i="0">
                <a:solidFill>
                  <a:srgbClr val="193A37"/>
                </a:solidFill>
                <a:latin typeface="Arial"/>
                <a:ea typeface="Arial"/>
                <a:cs typeface="Arial"/>
              </a:defRPr>
            </a:pPr>
            <a:r>
              <a:rPr sz="1800" b="0" i="0">
                <a:solidFill>
                  <a:srgbClr val="193A37"/>
                </a:solidFill>
                <a:latin typeface="Arial"/>
                <a:ea typeface="Arial"/>
                <a:cs typeface="Arial"/>
              </a:rPr>
              <a:t>Data permissions and audit records</a:t>
            </a:r>
          </a:p>
          <a:p xmlns:a="http://schemas.openxmlformats.org/drawingml/2006/main">
            <a:r>
              <a:t/>
            </a:r>
          </a:p>
          <a:p xmlns:a="http://schemas.openxmlformats.org/drawingml/2006/main">
            <a:pPr algn="l">
              <a:lnSpc>
                <a:spcPct val="108000"/>
              </a:lnSpc>
              <a:buNone/>
              <a:defRPr sz="1800" b="0" i="0">
                <a:solidFill>
                  <a:srgbClr val="193A37"/>
                </a:solidFill>
                <a:latin typeface="Arial"/>
                <a:ea typeface="Arial"/>
                <a:cs typeface="Arial"/>
              </a:defRPr>
            </a:pPr>
            <a:r>
              <a:rPr sz="1800" b="0" i="0">
                <a:solidFill>
                  <a:srgbClr val="193A37"/>
                </a:solidFill>
                <a:latin typeface="Arial"/>
                <a:ea typeface="Arial"/>
                <a:cs typeface="Arial"/>
              </a:rPr>
              <a:t>Storage, queues and deployment policy</a:t>
            </a:r>
          </a:p>
        </p:txBody>
      </p:sp>
    </p:spTree>
    <p:extLst>
      <p:ext uri="{BB962C8B-B14F-4D97-AF65-F5344CB8AC3E}">
        <p14:creationId xmlns:p14="http://schemas.microsoft.com/office/powerpoint/2010/main" val="1034780017"/>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6" name="title-7">
            <a:extLst xmlns:a="http://schemas.openxmlformats.org/drawingml/2006/main">
              <a:ext uri="{FF2B5EF4-FFF2-40B4-BE49-F238E27FC236}">
                <a16:creationId xmlns:a16="http://schemas.microsoft.com/office/drawing/2014/main" id="{4467488E-74EC-41B1-8EB8-831ED48DE1CC}"/>
              </a:ext>
            </a:extLst>
          </p:cNvPr>
          <p:cNvSpPr>
            <a:spLocks xmlns:a="http://schemas.openxmlformats.org/drawingml/2006/main" noGrp="1"/>
          </p:cNvSpPr>
          <p:nvPr/>
        </p:nvSpPr>
        <p:spPr>
          <a:xfrm xmlns:a="http://schemas.openxmlformats.org/drawingml/2006/main">
            <a:off x="685800" y="4191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93A37"/>
                </a:solidFill>
                <a:latin typeface="Georgia"/>
                <a:ea typeface="Georgia"/>
                <a:cs typeface="Georgia"/>
              </a:defRPr>
            </a:pPr>
            <a:r>
              <a:rPr sz="3150" b="0" i="0">
                <a:solidFill>
                  <a:srgbClr val="193A37"/>
                </a:solidFill>
                <a:latin typeface="Georgia"/>
                <a:ea typeface="Georgia"/>
                <a:cs typeface="Georgia"/>
              </a:rPr>
              <a:t>Development in Posit Workbench</a:t>
            </a:r>
          </a:p>
        </p:txBody>
      </p:sp>
      <p:sp>
        <p:nvSpPr>
          <p:cNvPr id="2" name="page-7">
            <a:extLst xmlns:a="http://schemas.openxmlformats.org/drawingml/2006/main">
              <a:ext uri="{FF2B5EF4-FFF2-40B4-BE49-F238E27FC236}">
                <a16:creationId xmlns:a16="http://schemas.microsoft.com/office/drawing/2014/main" id="{B71B2138-5BA3-458F-A197-B9FA9BAD069D}"/>
              </a:ext>
            </a:extLst>
          </p:cNvPr>
          <p:cNvSpPr>
            <a:spLocks xmlns:a="http://schemas.openxmlformats.org/drawingml/2006/main" noGrp="1"/>
          </p:cNvSpPr>
          <p:nvPr/>
        </p:nvSpPr>
        <p:spPr>
          <a:xfrm xmlns:a="http://schemas.openxmlformats.org/drawingml/2006/main">
            <a:off x="11372850" y="641032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52645F"/>
                </a:solidFill>
                <a:latin typeface="Arial"/>
                <a:ea typeface="Arial"/>
                <a:cs typeface="Arial"/>
              </a:defRPr>
            </a:pPr>
            <a:r>
              <a:rPr sz="1050" b="0" i="0">
                <a:solidFill>
                  <a:srgbClr val="52645F"/>
                </a:solidFill>
                <a:latin typeface="Arial"/>
                <a:ea typeface="Arial"/>
                <a:cs typeface="Arial"/>
              </a:rPr>
              <a:t>07</a:t>
            </a:r>
          </a:p>
        </p:txBody>
      </p:sp>
      <p:sp>
        <p:nvSpPr>
          <p:cNvPr id="3" name="wb-intro">
            <a:extLst xmlns:a="http://schemas.openxmlformats.org/drawingml/2006/main">
              <a:ext uri="{FF2B5EF4-FFF2-40B4-BE49-F238E27FC236}">
                <a16:creationId xmlns:a16="http://schemas.microsoft.com/office/drawing/2014/main" id="{71E62999-E07F-4A2B-B777-991DCAB1ACAA}"/>
              </a:ext>
            </a:extLst>
          </p:cNvPr>
          <p:cNvSpPr>
            <a:spLocks xmlns:a="http://schemas.openxmlformats.org/drawingml/2006/main" noGrp="1"/>
          </p:cNvSpPr>
          <p:nvPr/>
        </p:nvSpPr>
        <p:spPr>
          <a:xfrm xmlns:a="http://schemas.openxmlformats.org/drawingml/2006/main">
            <a:off x="742950" y="1362075"/>
            <a:ext cx="10334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400" b="0" i="0">
                <a:solidFill>
                  <a:srgbClr val="17645E"/>
                </a:solidFill>
                <a:latin typeface="Georgia"/>
                <a:ea typeface="Georgia"/>
                <a:cs typeface="Georgia"/>
              </a:defRPr>
            </a:pPr>
            <a:r>
              <a:rPr sz="2400" b="0" i="0">
                <a:solidFill>
                  <a:srgbClr val="17645E"/>
                </a:solidFill>
                <a:latin typeface="Georgia"/>
                <a:ea typeface="Georgia"/>
                <a:cs typeface="Georgia"/>
              </a:rPr>
              <a:t>Workbench hosts the developer session and proxies the running app.</a:t>
            </a:r>
          </a:p>
        </p:txBody>
      </p:sp>
      <p:sp>
        <p:nvSpPr>
          <p:cNvPr id="4" name="row-num-1-261">
            <a:extLst xmlns:a="http://schemas.openxmlformats.org/drawingml/2006/main">
              <a:ext uri="{FF2B5EF4-FFF2-40B4-BE49-F238E27FC236}">
                <a16:creationId xmlns:a16="http://schemas.microsoft.com/office/drawing/2014/main" id="{A11DBCD5-0C78-47BE-8ADF-FEBF5753B732}"/>
              </a:ext>
            </a:extLst>
          </p:cNvPr>
          <p:cNvSpPr>
            <a:spLocks xmlns:a="http://schemas.openxmlformats.org/drawingml/2006/main" noGrp="1"/>
          </p:cNvSpPr>
          <p:nvPr/>
        </p:nvSpPr>
        <p:spPr>
          <a:xfrm xmlns:a="http://schemas.openxmlformats.org/drawingml/2006/main">
            <a:off x="742950" y="24860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17645E"/>
                </a:solidFill>
                <a:latin typeface="Arial"/>
                <a:ea typeface="Arial"/>
                <a:cs typeface="Arial"/>
              </a:defRPr>
            </a:pPr>
            <a:r>
              <a:rPr sz="1650" b="1" i="0">
                <a:solidFill>
                  <a:srgbClr val="17645E"/>
                </a:solidFill>
                <a:latin typeface="Arial"/>
                <a:ea typeface="Arial"/>
                <a:cs typeface="Arial"/>
              </a:rPr>
              <a:t>01</a:t>
            </a:r>
          </a:p>
        </p:txBody>
      </p:sp>
      <p:sp>
        <p:nvSpPr>
          <p:cNvPr id="5" name="row-head-1-261">
            <a:extLst xmlns:a="http://schemas.openxmlformats.org/drawingml/2006/main">
              <a:ext uri="{FF2B5EF4-FFF2-40B4-BE49-F238E27FC236}">
                <a16:creationId xmlns:a16="http://schemas.microsoft.com/office/drawing/2014/main" id="{BEA04DD4-98A8-400B-BAF4-039CCDD8C6A6}"/>
              </a:ext>
            </a:extLst>
          </p:cNvPr>
          <p:cNvSpPr>
            <a:spLocks xmlns:a="http://schemas.openxmlformats.org/drawingml/2006/main" noGrp="1"/>
          </p:cNvSpPr>
          <p:nvPr/>
        </p:nvSpPr>
        <p:spPr>
          <a:xfrm xmlns:a="http://schemas.openxmlformats.org/drawingml/2006/main">
            <a:off x="1524000" y="247650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i="0">
                <a:solidFill>
                  <a:srgbClr val="193A37"/>
                </a:solidFill>
                <a:latin typeface="Arial"/>
                <a:ea typeface="Arial"/>
                <a:cs typeface="Arial"/>
              </a:defRPr>
            </a:pPr>
            <a:r>
              <a:rPr sz="2100" b="1" i="0">
                <a:solidFill>
                  <a:srgbClr val="193A37"/>
                </a:solidFill>
                <a:latin typeface="Arial"/>
                <a:ea typeface="Arial"/>
                <a:cs typeface="Arial"/>
              </a:rPr>
              <a:t>Open a session</a:t>
            </a:r>
          </a:p>
        </p:txBody>
      </p:sp>
      <p:sp>
        <p:nvSpPr>
          <p:cNvPr id="6" name="row-body-1-261">
            <a:extLst xmlns:a="http://schemas.openxmlformats.org/drawingml/2006/main">
              <a:ext uri="{FF2B5EF4-FFF2-40B4-BE49-F238E27FC236}">
                <a16:creationId xmlns:a16="http://schemas.microsoft.com/office/drawing/2014/main" id="{30FD3ACA-C4C9-4830-B84C-316DAA357705}"/>
              </a:ext>
            </a:extLst>
          </p:cNvPr>
          <p:cNvSpPr>
            <a:spLocks xmlns:a="http://schemas.openxmlformats.org/drawingml/2006/main" noGrp="1"/>
          </p:cNvSpPr>
          <p:nvPr/>
        </p:nvSpPr>
        <p:spPr>
          <a:xfrm xmlns:a="http://schemas.openxmlformats.org/drawingml/2006/main">
            <a:off x="5334000" y="2486025"/>
            <a:ext cx="596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i="0">
                <a:solidFill>
                  <a:srgbClr val="52645F"/>
                </a:solidFill>
                <a:latin typeface="Arial"/>
                <a:ea typeface="Arial"/>
                <a:cs typeface="Arial"/>
              </a:defRPr>
            </a:pPr>
            <a:r>
              <a:rPr sz="1725" b="0" i="0">
                <a:solidFill>
                  <a:srgbClr val="52645F"/>
                </a:solidFill>
                <a:latin typeface="Arial"/>
                <a:ea typeface="Arial"/>
                <a:cs typeface="Arial"/>
              </a:rPr>
              <a:t>Use the approved Python environment and package index.</a:t>
            </a:r>
          </a:p>
        </p:txBody>
      </p:sp>
      <p:sp>
        <p:nvSpPr>
          <p:cNvPr id="7" name="wb-line-1">
            <a:extLst xmlns:a="http://schemas.openxmlformats.org/drawingml/2006/main">
              <a:ext uri="{FF2B5EF4-FFF2-40B4-BE49-F238E27FC236}">
                <a16:creationId xmlns:a16="http://schemas.microsoft.com/office/drawing/2014/main" id="{333F22E4-6F40-4561-8160-3184472F284F}"/>
              </a:ext>
            </a:extLst>
          </p:cNvPr>
          <p:cNvSpPr>
            <a:spLocks xmlns:a="http://schemas.openxmlformats.org/drawingml/2006/main" noGrp="1"/>
          </p:cNvSpPr>
          <p:nvPr/>
        </p:nvSpPr>
        <p:spPr>
          <a:xfrm xmlns:a="http://schemas.openxmlformats.org/drawingml/2006/main">
            <a:off x="742950" y="3381375"/>
            <a:ext cx="10477500" cy="0"/>
          </a:xfrm>
          <a:prstGeom xmlns:a="http://schemas.openxmlformats.org/drawingml/2006/main" prst="line">
            <a:avLst/>
          </a:prstGeom>
          <a:noFill xmlns:a="http://schemas.openxmlformats.org/drawingml/2006/main"/>
          <a:ln xmlns:a="http://schemas.openxmlformats.org/drawingml/2006/main" w="9525">
            <a:solidFill>
              <a:srgbClr val="C9D4CF"/>
            </a:solidFill>
            <a:prstDash val="solid"/>
          </a:ln>
        </p:spPr>
      </p:sp>
      <p:sp>
        <p:nvSpPr>
          <p:cNvPr id="8" name="row-num-2-381">
            <a:extLst xmlns:a="http://schemas.openxmlformats.org/drawingml/2006/main">
              <a:ext uri="{FF2B5EF4-FFF2-40B4-BE49-F238E27FC236}">
                <a16:creationId xmlns:a16="http://schemas.microsoft.com/office/drawing/2014/main" id="{BC19CAE0-6188-4FAD-84AA-51BF16C9C51B}"/>
              </a:ext>
            </a:extLst>
          </p:cNvPr>
          <p:cNvSpPr>
            <a:spLocks xmlns:a="http://schemas.openxmlformats.org/drawingml/2006/main" noGrp="1"/>
          </p:cNvSpPr>
          <p:nvPr/>
        </p:nvSpPr>
        <p:spPr>
          <a:xfrm xmlns:a="http://schemas.openxmlformats.org/drawingml/2006/main">
            <a:off x="742950" y="36290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17645E"/>
                </a:solidFill>
                <a:latin typeface="Arial"/>
                <a:ea typeface="Arial"/>
                <a:cs typeface="Arial"/>
              </a:defRPr>
            </a:pPr>
            <a:r>
              <a:rPr sz="1650" b="1" i="0">
                <a:solidFill>
                  <a:srgbClr val="17645E"/>
                </a:solidFill>
                <a:latin typeface="Arial"/>
                <a:ea typeface="Arial"/>
                <a:cs typeface="Arial"/>
              </a:rPr>
              <a:t>02</a:t>
            </a:r>
          </a:p>
        </p:txBody>
      </p:sp>
      <p:sp>
        <p:nvSpPr>
          <p:cNvPr id="9" name="row-head-2-381">
            <a:extLst xmlns:a="http://schemas.openxmlformats.org/drawingml/2006/main">
              <a:ext uri="{FF2B5EF4-FFF2-40B4-BE49-F238E27FC236}">
                <a16:creationId xmlns:a16="http://schemas.microsoft.com/office/drawing/2014/main" id="{59A7DC46-8FEA-40CC-ACCC-6AFFFEC5B357}"/>
              </a:ext>
            </a:extLst>
          </p:cNvPr>
          <p:cNvSpPr>
            <a:spLocks xmlns:a="http://schemas.openxmlformats.org/drawingml/2006/main" noGrp="1"/>
          </p:cNvSpPr>
          <p:nvPr/>
        </p:nvSpPr>
        <p:spPr>
          <a:xfrm xmlns:a="http://schemas.openxmlformats.org/drawingml/2006/main">
            <a:off x="1524000" y="361950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i="0">
                <a:solidFill>
                  <a:srgbClr val="193A37"/>
                </a:solidFill>
                <a:latin typeface="Arial"/>
                <a:ea typeface="Arial"/>
                <a:cs typeface="Arial"/>
              </a:defRPr>
            </a:pPr>
            <a:r>
              <a:rPr sz="2100" b="1" i="0">
                <a:solidFill>
                  <a:srgbClr val="193A37"/>
                </a:solidFill>
                <a:latin typeface="Arial"/>
                <a:ea typeface="Arial"/>
                <a:cs typeface="Arial"/>
              </a:rPr>
              <a:t>Run the app</a:t>
            </a:r>
          </a:p>
        </p:txBody>
      </p:sp>
      <p:sp>
        <p:nvSpPr>
          <p:cNvPr id="10" name="row-body-2-381">
            <a:extLst xmlns:a="http://schemas.openxmlformats.org/drawingml/2006/main">
              <a:ext uri="{FF2B5EF4-FFF2-40B4-BE49-F238E27FC236}">
                <a16:creationId xmlns:a16="http://schemas.microsoft.com/office/drawing/2014/main" id="{3242AE9C-B0E9-4F34-A10B-E4E0355F295D}"/>
              </a:ext>
            </a:extLst>
          </p:cNvPr>
          <p:cNvSpPr>
            <a:spLocks xmlns:a="http://schemas.openxmlformats.org/drawingml/2006/main" noGrp="1"/>
          </p:cNvSpPr>
          <p:nvPr/>
        </p:nvSpPr>
        <p:spPr>
          <a:xfrm xmlns:a="http://schemas.openxmlformats.org/drawingml/2006/main">
            <a:off x="5334000" y="3629025"/>
            <a:ext cx="596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i="0">
                <a:solidFill>
                  <a:srgbClr val="52645F"/>
                </a:solidFill>
                <a:latin typeface="Arial"/>
                <a:ea typeface="Arial"/>
                <a:cs typeface="Arial"/>
              </a:defRPr>
            </a:pPr>
            <a:r>
              <a:rPr sz="1725" b="0" i="0">
                <a:solidFill>
                  <a:srgbClr val="52645F"/>
                </a:solidFill>
                <a:latin typeface="Arial"/>
                <a:ea typeface="Arial"/>
                <a:cs typeface="Arial"/>
              </a:rPr>
              <a:t>hedron-posit run app:app</a:t>
            </a:r>
          </a:p>
        </p:txBody>
      </p:sp>
      <p:sp>
        <p:nvSpPr>
          <p:cNvPr id="11" name="wb-line-2">
            <a:extLst xmlns:a="http://schemas.openxmlformats.org/drawingml/2006/main">
              <a:ext uri="{FF2B5EF4-FFF2-40B4-BE49-F238E27FC236}">
                <a16:creationId xmlns:a16="http://schemas.microsoft.com/office/drawing/2014/main" id="{552C1904-909A-4053-A628-C36FA5D02E19}"/>
              </a:ext>
            </a:extLst>
          </p:cNvPr>
          <p:cNvSpPr>
            <a:spLocks xmlns:a="http://schemas.openxmlformats.org/drawingml/2006/main" noGrp="1"/>
          </p:cNvSpPr>
          <p:nvPr/>
        </p:nvSpPr>
        <p:spPr>
          <a:xfrm xmlns:a="http://schemas.openxmlformats.org/drawingml/2006/main">
            <a:off x="742950" y="4524375"/>
            <a:ext cx="10477500" cy="0"/>
          </a:xfrm>
          <a:prstGeom xmlns:a="http://schemas.openxmlformats.org/drawingml/2006/main" prst="line">
            <a:avLst/>
          </a:prstGeom>
          <a:noFill xmlns:a="http://schemas.openxmlformats.org/drawingml/2006/main"/>
          <a:ln xmlns:a="http://schemas.openxmlformats.org/drawingml/2006/main" w="9525">
            <a:solidFill>
              <a:srgbClr val="C9D4CF"/>
            </a:solidFill>
            <a:prstDash val="solid"/>
          </a:ln>
        </p:spPr>
      </p:sp>
      <p:sp>
        <p:nvSpPr>
          <p:cNvPr id="12" name="row-num-3-501">
            <a:extLst xmlns:a="http://schemas.openxmlformats.org/drawingml/2006/main">
              <a:ext uri="{FF2B5EF4-FFF2-40B4-BE49-F238E27FC236}">
                <a16:creationId xmlns:a16="http://schemas.microsoft.com/office/drawing/2014/main" id="{847809B5-ADDD-4428-A619-0C748049EB80}"/>
              </a:ext>
            </a:extLst>
          </p:cNvPr>
          <p:cNvSpPr>
            <a:spLocks xmlns:a="http://schemas.openxmlformats.org/drawingml/2006/main" noGrp="1"/>
          </p:cNvSpPr>
          <p:nvPr/>
        </p:nvSpPr>
        <p:spPr>
          <a:xfrm xmlns:a="http://schemas.openxmlformats.org/drawingml/2006/main">
            <a:off x="742950" y="47720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17645E"/>
                </a:solidFill>
                <a:latin typeface="Arial"/>
                <a:ea typeface="Arial"/>
                <a:cs typeface="Arial"/>
              </a:defRPr>
            </a:pPr>
            <a:r>
              <a:rPr sz="1650" b="1" i="0">
                <a:solidFill>
                  <a:srgbClr val="17645E"/>
                </a:solidFill>
                <a:latin typeface="Arial"/>
                <a:ea typeface="Arial"/>
                <a:cs typeface="Arial"/>
              </a:rPr>
              <a:t>03</a:t>
            </a:r>
          </a:p>
        </p:txBody>
      </p:sp>
      <p:sp>
        <p:nvSpPr>
          <p:cNvPr id="13" name="row-head-3-501">
            <a:extLst xmlns:a="http://schemas.openxmlformats.org/drawingml/2006/main">
              <a:ext uri="{FF2B5EF4-FFF2-40B4-BE49-F238E27FC236}">
                <a16:creationId xmlns:a16="http://schemas.microsoft.com/office/drawing/2014/main" id="{F933D611-D6B1-4359-BDEF-39569CF96466}"/>
              </a:ext>
            </a:extLst>
          </p:cNvPr>
          <p:cNvSpPr>
            <a:spLocks xmlns:a="http://schemas.openxmlformats.org/drawingml/2006/main" noGrp="1"/>
          </p:cNvSpPr>
          <p:nvPr/>
        </p:nvSpPr>
        <p:spPr>
          <a:xfrm xmlns:a="http://schemas.openxmlformats.org/drawingml/2006/main">
            <a:off x="1524000" y="476250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i="0">
                <a:solidFill>
                  <a:srgbClr val="193A37"/>
                </a:solidFill>
                <a:latin typeface="Arial"/>
                <a:ea typeface="Arial"/>
                <a:cs typeface="Arial"/>
              </a:defRPr>
            </a:pPr>
            <a:r>
              <a:rPr sz="2100" b="1" i="0">
                <a:solidFill>
                  <a:srgbClr val="193A37"/>
                </a:solidFill>
                <a:latin typeface="Arial"/>
                <a:ea typeface="Arial"/>
                <a:cs typeface="Arial"/>
              </a:rPr>
              <a:t>Open the proxy URL</a:t>
            </a:r>
          </a:p>
        </p:txBody>
      </p:sp>
      <p:sp>
        <p:nvSpPr>
          <p:cNvPr id="14" name="row-body-3-501">
            <a:extLst xmlns:a="http://schemas.openxmlformats.org/drawingml/2006/main">
              <a:ext uri="{FF2B5EF4-FFF2-40B4-BE49-F238E27FC236}">
                <a16:creationId xmlns:a16="http://schemas.microsoft.com/office/drawing/2014/main" id="{C5BEA4B0-B872-4DC5-AA40-D83A54E230D7}"/>
              </a:ext>
            </a:extLst>
          </p:cNvPr>
          <p:cNvSpPr>
            <a:spLocks xmlns:a="http://schemas.openxmlformats.org/drawingml/2006/main" noGrp="1"/>
          </p:cNvSpPr>
          <p:nvPr/>
        </p:nvSpPr>
        <p:spPr>
          <a:xfrm xmlns:a="http://schemas.openxmlformats.org/drawingml/2006/main">
            <a:off x="5334000" y="4772025"/>
            <a:ext cx="596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i="0">
                <a:solidFill>
                  <a:srgbClr val="52645F"/>
                </a:solidFill>
                <a:latin typeface="Arial"/>
                <a:ea typeface="Arial"/>
                <a:cs typeface="Arial"/>
              </a:defRPr>
            </a:pPr>
            <a:r>
              <a:rPr sz="1725" b="0" i="0">
                <a:solidFill>
                  <a:srgbClr val="52645F"/>
                </a:solidFill>
                <a:latin typeface="Arial"/>
                <a:ea typeface="Arial"/>
                <a:cs typeface="Arial"/>
              </a:rPr>
              <a:t>The launcher handles the session path, assets and cookies.</a:t>
            </a:r>
          </a:p>
        </p:txBody>
      </p:sp>
      <p:sp>
        <p:nvSpPr>
          <p:cNvPr id="15" name="wb-note">
            <a:extLst xmlns:a="http://schemas.openxmlformats.org/drawingml/2006/main">
              <a:ext uri="{FF2B5EF4-FFF2-40B4-BE49-F238E27FC236}">
                <a16:creationId xmlns:a16="http://schemas.microsoft.com/office/drawing/2014/main" id="{56C2694B-6AAD-467F-AEE6-7DDD73CB3F48}"/>
              </a:ext>
            </a:extLst>
          </p:cNvPr>
          <p:cNvSpPr>
            <a:spLocks xmlns:a="http://schemas.openxmlformats.org/drawingml/2006/main" noGrp="1"/>
          </p:cNvSpPr>
          <p:nvPr/>
        </p:nvSpPr>
        <p:spPr>
          <a:xfrm xmlns:a="http://schemas.openxmlformats.org/drawingml/2006/main">
            <a:off x="752475" y="5981700"/>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52645F"/>
                </a:solidFill>
                <a:latin typeface="Arial"/>
                <a:ea typeface="Arial"/>
                <a:cs typeface="Arial"/>
              </a:defRPr>
            </a:pPr>
            <a:r>
              <a:rPr sz="1500" b="0" i="0">
                <a:solidFill>
                  <a:srgbClr val="52645F"/>
                </a:solidFill>
                <a:latin typeface="Arial"/>
                <a:ea typeface="Arial"/>
                <a:cs typeface="Arial"/>
              </a:rPr>
              <a:t>Workbench session links are temporary. Connect provides the durable published URL.</a:t>
            </a:r>
          </a:p>
        </p:txBody>
      </p:sp>
    </p:spTree>
    <p:extLst>
      <p:ext uri="{BB962C8B-B14F-4D97-AF65-F5344CB8AC3E}">
        <p14:creationId xmlns:p14="http://schemas.microsoft.com/office/powerpoint/2010/main" val="12871264"/>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3" name="title-8">
            <a:extLst xmlns:a="http://schemas.openxmlformats.org/drawingml/2006/main">
              <a:ext uri="{FF2B5EF4-FFF2-40B4-BE49-F238E27FC236}">
                <a16:creationId xmlns:a16="http://schemas.microsoft.com/office/drawing/2014/main" id="{77FA2CC7-5D74-41EE-972C-B5AEFC767170}"/>
              </a:ext>
            </a:extLst>
          </p:cNvPr>
          <p:cNvSpPr>
            <a:spLocks xmlns:a="http://schemas.openxmlformats.org/drawingml/2006/main" noGrp="1"/>
          </p:cNvSpPr>
          <p:nvPr/>
        </p:nvSpPr>
        <p:spPr>
          <a:xfrm xmlns:a="http://schemas.openxmlformats.org/drawingml/2006/main">
            <a:off x="685800" y="4191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93A37"/>
                </a:solidFill>
                <a:latin typeface="Georgia"/>
                <a:ea typeface="Georgia"/>
                <a:cs typeface="Georgia"/>
              </a:defRPr>
            </a:pPr>
            <a:r>
              <a:rPr sz="3150" b="0" i="0">
                <a:solidFill>
                  <a:srgbClr val="193A37"/>
                </a:solidFill>
                <a:latin typeface="Georgia"/>
                <a:ea typeface="Georgia"/>
                <a:cs typeface="Georgia"/>
              </a:rPr>
              <a:t>Publishing on Posit Connect</a:t>
            </a:r>
          </a:p>
        </p:txBody>
      </p:sp>
      <p:sp>
        <p:nvSpPr>
          <p:cNvPr id="2" name="page-8">
            <a:extLst xmlns:a="http://schemas.openxmlformats.org/drawingml/2006/main">
              <a:ext uri="{FF2B5EF4-FFF2-40B4-BE49-F238E27FC236}">
                <a16:creationId xmlns:a16="http://schemas.microsoft.com/office/drawing/2014/main" id="{3DEBAF28-EDDD-41E9-8BD2-830A8E135696}"/>
              </a:ext>
            </a:extLst>
          </p:cNvPr>
          <p:cNvSpPr>
            <a:spLocks xmlns:a="http://schemas.openxmlformats.org/drawingml/2006/main" noGrp="1"/>
          </p:cNvSpPr>
          <p:nvPr/>
        </p:nvSpPr>
        <p:spPr>
          <a:xfrm xmlns:a="http://schemas.openxmlformats.org/drawingml/2006/main">
            <a:off x="11372850" y="641032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52645F"/>
                </a:solidFill>
                <a:latin typeface="Arial"/>
                <a:ea typeface="Arial"/>
                <a:cs typeface="Arial"/>
              </a:defRPr>
            </a:pPr>
            <a:r>
              <a:rPr sz="1050" b="0" i="0">
                <a:solidFill>
                  <a:srgbClr val="52645F"/>
                </a:solidFill>
                <a:latin typeface="Arial"/>
                <a:ea typeface="Arial"/>
                <a:cs typeface="Arial"/>
              </a:rPr>
              <a:t>08</a:t>
            </a:r>
          </a:p>
        </p:txBody>
      </p:sp>
      <p:sp>
        <p:nvSpPr>
          <p:cNvPr id="3" name="connect-intro">
            <a:extLst xmlns:a="http://schemas.openxmlformats.org/drawingml/2006/main">
              <a:ext uri="{FF2B5EF4-FFF2-40B4-BE49-F238E27FC236}">
                <a16:creationId xmlns:a16="http://schemas.microsoft.com/office/drawing/2014/main" id="{E21A0438-6BD5-4E66-A2E2-33DA40181FB4}"/>
              </a:ext>
            </a:extLst>
          </p:cNvPr>
          <p:cNvSpPr>
            <a:spLocks xmlns:a="http://schemas.openxmlformats.org/drawingml/2006/main" noGrp="1"/>
          </p:cNvSpPr>
          <p:nvPr/>
        </p:nvSpPr>
        <p:spPr>
          <a:xfrm xmlns:a="http://schemas.openxmlformats.org/drawingml/2006/main">
            <a:off x="733425" y="1428750"/>
            <a:ext cx="1019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000" b="0" i="0">
                <a:solidFill>
                  <a:srgbClr val="17645E"/>
                </a:solidFill>
                <a:latin typeface="Georgia"/>
                <a:ea typeface="Georgia"/>
                <a:cs typeface="Georgia"/>
              </a:defRPr>
            </a:pPr>
            <a:r>
              <a:rPr sz="3000" b="0" i="0">
                <a:solidFill>
                  <a:srgbClr val="17645E"/>
                </a:solidFill>
                <a:latin typeface="Georgia"/>
                <a:ea typeface="Georgia"/>
                <a:cs typeface="Georgia"/>
              </a:rPr>
              <a:t>Publish the same app as FastAPI content</a:t>
            </a:r>
          </a:p>
        </p:txBody>
      </p:sp>
      <p:sp>
        <p:nvSpPr>
          <p:cNvPr id="4" name="connect-command">
            <a:extLst xmlns:a="http://schemas.openxmlformats.org/drawingml/2006/main">
              <a:ext uri="{FF2B5EF4-FFF2-40B4-BE49-F238E27FC236}">
                <a16:creationId xmlns:a16="http://schemas.microsoft.com/office/drawing/2014/main" id="{CAE2B352-B4A9-4C39-B65B-2B89D32F9B33}"/>
              </a:ext>
            </a:extLst>
          </p:cNvPr>
          <p:cNvSpPr>
            <a:spLocks xmlns:a="http://schemas.openxmlformats.org/drawingml/2006/main" noGrp="1"/>
          </p:cNvSpPr>
          <p:nvPr/>
        </p:nvSpPr>
        <p:spPr>
          <a:xfrm xmlns:a="http://schemas.openxmlformats.org/drawingml/2006/main">
            <a:off x="733425" y="2400300"/>
            <a:ext cx="10668000" cy="790575"/>
          </a:xfrm>
          <a:prstGeom xmlns:a="http://schemas.openxmlformats.org/drawingml/2006/main" prst="rect">
            <a:avLst/>
          </a:prstGeom>
          <a:solidFill xmlns:a="http://schemas.openxmlformats.org/drawingml/2006/main">
            <a:srgbClr val="F1F3F0"/>
          </a:solidFill>
          <a:ln xmlns:a="http://schemas.openxmlformats.org/drawingml/2006/main" w="0">
            <a:noFill/>
            <a:prstDash val="solid"/>
          </a:ln>
        </p:spPr>
        <p:txBody>
          <a:bodyPr xmlns:a="http://schemas.openxmlformats.org/drawingml/2006/main" wrap="square" lIns="171450" tIns="238125" rIns="142875" bIns="95250" anchor="t">
            <a:noAutofit/>
          </a:bodyPr>
          <a:lstStyle xmlns:a="http://schemas.openxmlformats.org/drawingml/2006/main"/>
          <a:p xmlns:a="http://schemas.openxmlformats.org/drawingml/2006/main">
            <a:pPr algn="l">
              <a:lnSpc>
                <a:spcPct val="105000"/>
              </a:lnSpc>
              <a:buNone/>
              <a:defRPr sz="1725" b="0" i="0">
                <a:solidFill>
                  <a:srgbClr val="253230"/>
                </a:solidFill>
                <a:latin typeface="Menlo"/>
                <a:ea typeface="Menlo"/>
                <a:cs typeface="Menlo"/>
              </a:defRPr>
            </a:pPr>
            <a:r>
              <a:rPr sz="1725" b="0" i="0">
                <a:solidFill>
                  <a:srgbClr val="253230"/>
                </a:solidFill>
                <a:latin typeface="Menlo"/>
                <a:ea typeface="Menlo"/>
                <a:cs typeface="Menlo"/>
              </a:rPr>
              <a:t>rsconnect deploy fastapi -n &lt;server&gt; --entrypoint app:app ./</a:t>
            </a:r>
          </a:p>
        </p:txBody>
      </p:sp>
      <p:sp>
        <p:nvSpPr>
          <p:cNvPr id="5" name="row-num-1-385">
            <a:extLst xmlns:a="http://schemas.openxmlformats.org/drawingml/2006/main">
              <a:ext uri="{FF2B5EF4-FFF2-40B4-BE49-F238E27FC236}">
                <a16:creationId xmlns:a16="http://schemas.microsoft.com/office/drawing/2014/main" id="{2B38EE9E-B513-4901-BF9A-D3D1796D76F8}"/>
              </a:ext>
            </a:extLst>
          </p:cNvPr>
          <p:cNvSpPr>
            <a:spLocks xmlns:a="http://schemas.openxmlformats.org/drawingml/2006/main" noGrp="1"/>
          </p:cNvSpPr>
          <p:nvPr/>
        </p:nvSpPr>
        <p:spPr>
          <a:xfrm xmlns:a="http://schemas.openxmlformats.org/drawingml/2006/main">
            <a:off x="742950" y="3667125"/>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17645E"/>
                </a:solidFill>
                <a:latin typeface="Arial"/>
                <a:ea typeface="Arial"/>
                <a:cs typeface="Arial"/>
              </a:defRPr>
            </a:pPr>
            <a:r>
              <a:rPr sz="1650" b="1" i="0">
                <a:solidFill>
                  <a:srgbClr val="17645E"/>
                </a:solidFill>
                <a:latin typeface="Arial"/>
                <a:ea typeface="Arial"/>
                <a:cs typeface="Arial"/>
              </a:rPr>
              <a:t>01</a:t>
            </a:r>
          </a:p>
        </p:txBody>
      </p:sp>
      <p:sp>
        <p:nvSpPr>
          <p:cNvPr id="6" name="row-head-1-385">
            <a:extLst xmlns:a="http://schemas.openxmlformats.org/drawingml/2006/main">
              <a:ext uri="{FF2B5EF4-FFF2-40B4-BE49-F238E27FC236}">
                <a16:creationId xmlns:a16="http://schemas.microsoft.com/office/drawing/2014/main" id="{677D6488-86A2-46EC-92CE-53F9FA21C6B5}"/>
              </a:ext>
            </a:extLst>
          </p:cNvPr>
          <p:cNvSpPr>
            <a:spLocks xmlns:a="http://schemas.openxmlformats.org/drawingml/2006/main" noGrp="1"/>
          </p:cNvSpPr>
          <p:nvPr/>
        </p:nvSpPr>
        <p:spPr>
          <a:xfrm xmlns:a="http://schemas.openxmlformats.org/drawingml/2006/main">
            <a:off x="1524000" y="365760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i="0">
                <a:solidFill>
                  <a:srgbClr val="193A37"/>
                </a:solidFill>
                <a:latin typeface="Arial"/>
                <a:ea typeface="Arial"/>
                <a:cs typeface="Arial"/>
              </a:defRPr>
            </a:pPr>
            <a:r>
              <a:rPr sz="2100" b="1" i="0">
                <a:solidFill>
                  <a:srgbClr val="193A37"/>
                </a:solidFill>
                <a:latin typeface="Arial"/>
                <a:ea typeface="Arial"/>
                <a:cs typeface="Arial"/>
              </a:rPr>
              <a:t>Package the app</a:t>
            </a:r>
          </a:p>
        </p:txBody>
      </p:sp>
      <p:sp>
        <p:nvSpPr>
          <p:cNvPr id="7" name="row-body-1-385">
            <a:extLst xmlns:a="http://schemas.openxmlformats.org/drawingml/2006/main">
              <a:ext uri="{FF2B5EF4-FFF2-40B4-BE49-F238E27FC236}">
                <a16:creationId xmlns:a16="http://schemas.microsoft.com/office/drawing/2014/main" id="{DD40C8C7-D55C-49EA-826D-67BD5446C091}"/>
              </a:ext>
            </a:extLst>
          </p:cNvPr>
          <p:cNvSpPr>
            <a:spLocks xmlns:a="http://schemas.openxmlformats.org/drawingml/2006/main" noGrp="1"/>
          </p:cNvSpPr>
          <p:nvPr/>
        </p:nvSpPr>
        <p:spPr>
          <a:xfrm xmlns:a="http://schemas.openxmlformats.org/drawingml/2006/main">
            <a:off x="5334000" y="3667125"/>
            <a:ext cx="596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i="0">
                <a:solidFill>
                  <a:srgbClr val="52645F"/>
                </a:solidFill>
                <a:latin typeface="Arial"/>
                <a:ea typeface="Arial"/>
                <a:cs typeface="Arial"/>
              </a:defRPr>
            </a:pPr>
            <a:r>
              <a:rPr sz="1725" b="0" i="0">
                <a:solidFill>
                  <a:srgbClr val="52645F"/>
                </a:solidFill>
                <a:latin typeface="Arial"/>
                <a:ea typeface="Arial"/>
                <a:cs typeface="Arial"/>
              </a:rPr>
              <a:t>Include pinned Hedron dependencies in the content environment.</a:t>
            </a:r>
          </a:p>
        </p:txBody>
      </p:sp>
      <p:sp>
        <p:nvSpPr>
          <p:cNvPr id="8" name="connect-line-1">
            <a:extLst xmlns:a="http://schemas.openxmlformats.org/drawingml/2006/main">
              <a:ext uri="{FF2B5EF4-FFF2-40B4-BE49-F238E27FC236}">
                <a16:creationId xmlns:a16="http://schemas.microsoft.com/office/drawing/2014/main" id="{23975F5B-DC0A-47BB-A291-152B0045B0C6}"/>
              </a:ext>
            </a:extLst>
          </p:cNvPr>
          <p:cNvSpPr>
            <a:spLocks xmlns:a="http://schemas.openxmlformats.org/drawingml/2006/main" noGrp="1"/>
          </p:cNvSpPr>
          <p:nvPr/>
        </p:nvSpPr>
        <p:spPr>
          <a:xfrm xmlns:a="http://schemas.openxmlformats.org/drawingml/2006/main">
            <a:off x="742950" y="4533900"/>
            <a:ext cx="10477500" cy="0"/>
          </a:xfrm>
          <a:prstGeom xmlns:a="http://schemas.openxmlformats.org/drawingml/2006/main" prst="line">
            <a:avLst/>
          </a:prstGeom>
          <a:noFill xmlns:a="http://schemas.openxmlformats.org/drawingml/2006/main"/>
          <a:ln xmlns:a="http://schemas.openxmlformats.org/drawingml/2006/main" w="9525">
            <a:solidFill>
              <a:srgbClr val="C9D4CF"/>
            </a:solidFill>
            <a:prstDash val="solid"/>
          </a:ln>
        </p:spPr>
      </p:sp>
      <p:sp>
        <p:nvSpPr>
          <p:cNvPr id="9" name="row-num-2-504">
            <a:extLst xmlns:a="http://schemas.openxmlformats.org/drawingml/2006/main">
              <a:ext uri="{FF2B5EF4-FFF2-40B4-BE49-F238E27FC236}">
                <a16:creationId xmlns:a16="http://schemas.microsoft.com/office/drawing/2014/main" id="{3DF7EA94-286D-4F43-8321-3677A8A416E2}"/>
              </a:ext>
            </a:extLst>
          </p:cNvPr>
          <p:cNvSpPr>
            <a:spLocks xmlns:a="http://schemas.openxmlformats.org/drawingml/2006/main" noGrp="1"/>
          </p:cNvSpPr>
          <p:nvPr/>
        </p:nvSpPr>
        <p:spPr>
          <a:xfrm xmlns:a="http://schemas.openxmlformats.org/drawingml/2006/main">
            <a:off x="742950" y="48006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17645E"/>
                </a:solidFill>
                <a:latin typeface="Arial"/>
                <a:ea typeface="Arial"/>
                <a:cs typeface="Arial"/>
              </a:defRPr>
            </a:pPr>
            <a:r>
              <a:rPr sz="1650" b="1" i="0">
                <a:solidFill>
                  <a:srgbClr val="17645E"/>
                </a:solidFill>
                <a:latin typeface="Arial"/>
                <a:ea typeface="Arial"/>
                <a:cs typeface="Arial"/>
              </a:rPr>
              <a:t>02</a:t>
            </a:r>
          </a:p>
        </p:txBody>
      </p:sp>
      <p:sp>
        <p:nvSpPr>
          <p:cNvPr id="10" name="row-head-2-504">
            <a:extLst xmlns:a="http://schemas.openxmlformats.org/drawingml/2006/main">
              <a:ext uri="{FF2B5EF4-FFF2-40B4-BE49-F238E27FC236}">
                <a16:creationId xmlns:a16="http://schemas.microsoft.com/office/drawing/2014/main" id="{CE6BADAA-F287-4BF3-833E-57798E47D0A2}"/>
              </a:ext>
            </a:extLst>
          </p:cNvPr>
          <p:cNvSpPr>
            <a:spLocks xmlns:a="http://schemas.openxmlformats.org/drawingml/2006/main" noGrp="1"/>
          </p:cNvSpPr>
          <p:nvPr/>
        </p:nvSpPr>
        <p:spPr>
          <a:xfrm xmlns:a="http://schemas.openxmlformats.org/drawingml/2006/main">
            <a:off x="1524000" y="4791075"/>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i="0">
                <a:solidFill>
                  <a:srgbClr val="193A37"/>
                </a:solidFill>
                <a:latin typeface="Arial"/>
                <a:ea typeface="Arial"/>
                <a:cs typeface="Arial"/>
              </a:defRPr>
            </a:pPr>
            <a:r>
              <a:rPr sz="2100" b="1" i="0">
                <a:solidFill>
                  <a:srgbClr val="193A37"/>
                </a:solidFill>
                <a:latin typeface="Arial"/>
                <a:ea typeface="Arial"/>
                <a:cs typeface="Arial"/>
              </a:rPr>
              <a:t>Configure Connect</a:t>
            </a:r>
          </a:p>
        </p:txBody>
      </p:sp>
      <p:sp>
        <p:nvSpPr>
          <p:cNvPr id="11" name="row-body-2-504">
            <a:extLst xmlns:a="http://schemas.openxmlformats.org/drawingml/2006/main">
              <a:ext uri="{FF2B5EF4-FFF2-40B4-BE49-F238E27FC236}">
                <a16:creationId xmlns:a16="http://schemas.microsoft.com/office/drawing/2014/main" id="{24B14144-C065-4F27-ADCB-058ECB23C779}"/>
              </a:ext>
            </a:extLst>
          </p:cNvPr>
          <p:cNvSpPr>
            <a:spLocks xmlns:a="http://schemas.openxmlformats.org/drawingml/2006/main" noGrp="1"/>
          </p:cNvSpPr>
          <p:nvPr/>
        </p:nvSpPr>
        <p:spPr>
          <a:xfrm xmlns:a="http://schemas.openxmlformats.org/drawingml/2006/main">
            <a:off x="5334000" y="4800600"/>
            <a:ext cx="596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i="0">
                <a:solidFill>
                  <a:srgbClr val="52645F"/>
                </a:solidFill>
                <a:latin typeface="Arial"/>
                <a:ea typeface="Arial"/>
                <a:cs typeface="Arial"/>
              </a:defRPr>
            </a:pPr>
            <a:r>
              <a:rPr sz="1725" b="0" i="0">
                <a:solidFill>
                  <a:srgbClr val="52645F"/>
                </a:solidFill>
                <a:latin typeface="Arial"/>
                <a:ea typeface="Arial"/>
                <a:cs typeface="Arial"/>
              </a:rPr>
              <a:t>Set access, a session secret and deployment settings there.</a:t>
            </a:r>
          </a:p>
        </p:txBody>
      </p:sp>
      <p:sp>
        <p:nvSpPr>
          <p:cNvPr id="12" name="connect-note">
            <a:extLst xmlns:a="http://schemas.openxmlformats.org/drawingml/2006/main">
              <a:ext uri="{FF2B5EF4-FFF2-40B4-BE49-F238E27FC236}">
                <a16:creationId xmlns:a16="http://schemas.microsoft.com/office/drawing/2014/main" id="{48AF920A-2379-43E5-9EC3-6FC43F373023}"/>
              </a:ext>
            </a:extLst>
          </p:cNvPr>
          <p:cNvSpPr>
            <a:spLocks xmlns:a="http://schemas.openxmlformats.org/drawingml/2006/main" noGrp="1"/>
          </p:cNvSpPr>
          <p:nvPr/>
        </p:nvSpPr>
        <p:spPr>
          <a:xfrm xmlns:a="http://schemas.openxmlformats.org/drawingml/2006/main">
            <a:off x="752475" y="5991225"/>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52645F"/>
                </a:solidFill>
                <a:latin typeface="Arial"/>
                <a:ea typeface="Arial"/>
                <a:cs typeface="Arial"/>
              </a:defRPr>
            </a:pPr>
            <a:r>
              <a:rPr sz="1500" b="0" i="0">
                <a:solidFill>
                  <a:srgbClr val="52645F"/>
                </a:solidFill>
                <a:latin typeface="Arial"/>
                <a:ea typeface="Arial"/>
                <a:cs typeface="Arial"/>
              </a:rPr>
              <a:t>Validate the installed Connect version against Hedron’s support matrix.</a:t>
            </a:r>
          </a:p>
        </p:txBody>
      </p:sp>
    </p:spTree>
    <p:extLst>
      <p:ext uri="{BB962C8B-B14F-4D97-AF65-F5344CB8AC3E}">
        <p14:creationId xmlns:p14="http://schemas.microsoft.com/office/powerpoint/2010/main" val="783314471"/>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8" name="title-9">
            <a:extLst xmlns:a="http://schemas.openxmlformats.org/drawingml/2006/main">
              <a:ext uri="{FF2B5EF4-FFF2-40B4-BE49-F238E27FC236}">
                <a16:creationId xmlns:a16="http://schemas.microsoft.com/office/drawing/2014/main" id="{723B6048-0D14-42DC-85C8-89B1CC601C0D}"/>
              </a:ext>
            </a:extLst>
          </p:cNvPr>
          <p:cNvSpPr>
            <a:spLocks xmlns:a="http://schemas.openxmlformats.org/drawingml/2006/main" noGrp="1"/>
          </p:cNvSpPr>
          <p:nvPr/>
        </p:nvSpPr>
        <p:spPr>
          <a:xfrm xmlns:a="http://schemas.openxmlformats.org/drawingml/2006/main">
            <a:off x="685800" y="4191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93A37"/>
                </a:solidFill>
                <a:latin typeface="Georgia"/>
                <a:ea typeface="Georgia"/>
                <a:cs typeface="Georgia"/>
              </a:defRPr>
            </a:pPr>
            <a:r>
              <a:rPr sz="3150" b="0" i="0">
                <a:solidFill>
                  <a:srgbClr val="193A37"/>
                </a:solidFill>
                <a:latin typeface="Georgia"/>
                <a:ea typeface="Georgia"/>
                <a:cs typeface="Georgia"/>
              </a:rPr>
              <a:t>Security and operating responsibilities</a:t>
            </a:r>
          </a:p>
        </p:txBody>
      </p:sp>
      <p:sp>
        <p:nvSpPr>
          <p:cNvPr id="2" name="page-9">
            <a:extLst xmlns:a="http://schemas.openxmlformats.org/drawingml/2006/main">
              <a:ext uri="{FF2B5EF4-FFF2-40B4-BE49-F238E27FC236}">
                <a16:creationId xmlns:a16="http://schemas.microsoft.com/office/drawing/2014/main" id="{60A63CE2-08AA-4F25-90FB-00F6D73DFFDC}"/>
              </a:ext>
            </a:extLst>
          </p:cNvPr>
          <p:cNvSpPr>
            <a:spLocks xmlns:a="http://schemas.openxmlformats.org/drawingml/2006/main" noGrp="1"/>
          </p:cNvSpPr>
          <p:nvPr/>
        </p:nvSpPr>
        <p:spPr>
          <a:xfrm xmlns:a="http://schemas.openxmlformats.org/drawingml/2006/main">
            <a:off x="11372850" y="641032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52645F"/>
                </a:solidFill>
                <a:latin typeface="Arial"/>
                <a:ea typeface="Arial"/>
                <a:cs typeface="Arial"/>
              </a:defRPr>
            </a:pPr>
            <a:r>
              <a:rPr sz="1050" b="0" i="0">
                <a:solidFill>
                  <a:srgbClr val="52645F"/>
                </a:solidFill>
                <a:latin typeface="Arial"/>
                <a:ea typeface="Arial"/>
                <a:cs typeface="Arial"/>
              </a:rPr>
              <a:t>09</a:t>
            </a:r>
          </a:p>
        </p:txBody>
      </p:sp>
      <p:sp>
        <p:nvSpPr>
          <p:cNvPr id="3" name="sec-head-a">
            <a:extLst xmlns:a="http://schemas.openxmlformats.org/drawingml/2006/main">
              <a:ext uri="{FF2B5EF4-FFF2-40B4-BE49-F238E27FC236}">
                <a16:creationId xmlns:a16="http://schemas.microsoft.com/office/drawing/2014/main" id="{1F463267-1C74-4E66-9BC2-D76B45E4FF2F}"/>
              </a:ext>
            </a:extLst>
          </p:cNvPr>
          <p:cNvSpPr>
            <a:spLocks xmlns:a="http://schemas.openxmlformats.org/drawingml/2006/main" noGrp="1"/>
          </p:cNvSpPr>
          <p:nvPr/>
        </p:nvSpPr>
        <p:spPr>
          <a:xfrm xmlns:a="http://schemas.openxmlformats.org/drawingml/2006/main">
            <a:off x="733425" y="1552575"/>
            <a:ext cx="4667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400" b="1" i="0">
                <a:solidFill>
                  <a:srgbClr val="17645E"/>
                </a:solidFill>
                <a:latin typeface="Arial"/>
                <a:ea typeface="Arial"/>
                <a:cs typeface="Arial"/>
              </a:defRPr>
            </a:pPr>
            <a:r>
              <a:rPr sz="2400" b="1" i="0">
                <a:solidFill>
                  <a:srgbClr val="17645E"/>
                </a:solidFill>
                <a:latin typeface="Arial"/>
                <a:ea typeface="Arial"/>
                <a:cs typeface="Arial"/>
              </a:rPr>
              <a:t>Hedron provides</a:t>
            </a:r>
          </a:p>
        </p:txBody>
      </p:sp>
      <p:sp>
        <p:nvSpPr>
          <p:cNvPr id="4" name="sec-head-b">
            <a:extLst xmlns:a="http://schemas.openxmlformats.org/drawingml/2006/main">
              <a:ext uri="{FF2B5EF4-FFF2-40B4-BE49-F238E27FC236}">
                <a16:creationId xmlns:a16="http://schemas.microsoft.com/office/drawing/2014/main" id="{D4AD3903-26DC-4316-B61B-AA4C1030C91E}"/>
              </a:ext>
            </a:extLst>
          </p:cNvPr>
          <p:cNvSpPr>
            <a:spLocks xmlns:a="http://schemas.openxmlformats.org/drawingml/2006/main" noGrp="1"/>
          </p:cNvSpPr>
          <p:nvPr/>
        </p:nvSpPr>
        <p:spPr>
          <a:xfrm xmlns:a="http://schemas.openxmlformats.org/drawingml/2006/main">
            <a:off x="6496050" y="1552575"/>
            <a:ext cx="5095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400" b="1" i="0">
                <a:solidFill>
                  <a:srgbClr val="17645E"/>
                </a:solidFill>
                <a:latin typeface="Arial"/>
                <a:ea typeface="Arial"/>
                <a:cs typeface="Arial"/>
              </a:defRPr>
            </a:pPr>
            <a:r>
              <a:rPr sz="2400" b="1" i="0">
                <a:solidFill>
                  <a:srgbClr val="17645E"/>
                </a:solidFill>
                <a:latin typeface="Arial"/>
                <a:ea typeface="Arial"/>
                <a:cs typeface="Arial"/>
              </a:rPr>
              <a:t>The application and platform own</a:t>
            </a:r>
          </a:p>
        </p:txBody>
      </p:sp>
      <p:sp>
        <p:nvSpPr>
          <p:cNvPr id="5" name="sec-a">
            <a:extLst xmlns:a="http://schemas.openxmlformats.org/drawingml/2006/main">
              <a:ext uri="{FF2B5EF4-FFF2-40B4-BE49-F238E27FC236}">
                <a16:creationId xmlns:a16="http://schemas.microsoft.com/office/drawing/2014/main" id="{F204E25B-E455-45A4-955C-A4C0D6C04A3C}"/>
              </a:ext>
            </a:extLst>
          </p:cNvPr>
          <p:cNvSpPr>
            <a:spLocks xmlns:a="http://schemas.openxmlformats.org/drawingml/2006/main" noGrp="1"/>
          </p:cNvSpPr>
          <p:nvPr/>
        </p:nvSpPr>
        <p:spPr>
          <a:xfrm xmlns:a="http://schemas.openxmlformats.org/drawingml/2006/main">
            <a:off x="742950" y="2524125"/>
            <a:ext cx="48006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75" b="0" i="0">
                <a:solidFill>
                  <a:srgbClr val="193A37"/>
                </a:solidFill>
                <a:latin typeface="Arial"/>
                <a:ea typeface="Arial"/>
                <a:cs typeface="Arial"/>
              </a:defRPr>
            </a:pPr>
            <a:r>
              <a:rPr sz="1875" b="0" i="0">
                <a:solidFill>
                  <a:srgbClr val="193A37"/>
                </a:solidFill>
                <a:latin typeface="Arial"/>
                <a:ea typeface="Arial"/>
                <a:cs typeface="Arial"/>
              </a:rPr>
              <a:t>Escaped HTML and typed trust markers</a:t>
            </a:r>
          </a:p>
          <a:p xmlns:a="http://schemas.openxmlformats.org/drawingml/2006/main">
            <a:r>
              <a:t/>
            </a:r>
          </a:p>
          <a:p xmlns:a="http://schemas.openxmlformats.org/drawingml/2006/main">
            <a:pPr algn="l">
              <a:lnSpc>
                <a:spcPct val="106000"/>
              </a:lnSpc>
              <a:buNone/>
              <a:defRPr sz="1875" b="0" i="0">
                <a:solidFill>
                  <a:srgbClr val="193A37"/>
                </a:solidFill>
                <a:latin typeface="Arial"/>
                <a:ea typeface="Arial"/>
                <a:cs typeface="Arial"/>
              </a:defRPr>
            </a:pPr>
            <a:r>
              <a:rPr sz="1875" b="0" i="0">
                <a:solidFill>
                  <a:srgbClr val="193A37"/>
                </a:solidFill>
                <a:latin typeface="Arial"/>
                <a:ea typeface="Arial"/>
                <a:cs typeface="Arial"/>
              </a:rPr>
              <a:t>CSRF profiles and declared fragment targets</a:t>
            </a:r>
          </a:p>
          <a:p xmlns:a="http://schemas.openxmlformats.org/drawingml/2006/main">
            <a:r>
              <a:t/>
            </a:r>
          </a:p>
          <a:p xmlns:a="http://schemas.openxmlformats.org/drawingml/2006/main">
            <a:pPr algn="l">
              <a:lnSpc>
                <a:spcPct val="106000"/>
              </a:lnSpc>
              <a:buNone/>
              <a:defRPr sz="1875" b="0" i="0">
                <a:solidFill>
                  <a:srgbClr val="193A37"/>
                </a:solidFill>
                <a:latin typeface="Arial"/>
                <a:ea typeface="Arial"/>
                <a:cs typeface="Arial"/>
              </a:defRPr>
            </a:pPr>
            <a:r>
              <a:rPr sz="1875" b="0" i="0">
                <a:solidFill>
                  <a:srgbClr val="193A37"/>
                </a:solidFill>
                <a:latin typeface="Arial"/>
                <a:ea typeface="Arial"/>
                <a:cs typeface="Arial"/>
              </a:rPr>
              <a:t>FastAPI integration and diagnostics</a:t>
            </a:r>
          </a:p>
        </p:txBody>
      </p:sp>
      <p:sp>
        <p:nvSpPr>
          <p:cNvPr id="6" name="sec-b">
            <a:extLst xmlns:a="http://schemas.openxmlformats.org/drawingml/2006/main">
              <a:ext uri="{FF2B5EF4-FFF2-40B4-BE49-F238E27FC236}">
                <a16:creationId xmlns:a16="http://schemas.microsoft.com/office/drawing/2014/main" id="{1469AD20-0EAF-444D-850F-39E0CB946B20}"/>
              </a:ext>
            </a:extLst>
          </p:cNvPr>
          <p:cNvSpPr>
            <a:spLocks xmlns:a="http://schemas.openxmlformats.org/drawingml/2006/main" noGrp="1"/>
          </p:cNvSpPr>
          <p:nvPr/>
        </p:nvSpPr>
        <p:spPr>
          <a:xfrm xmlns:a="http://schemas.openxmlformats.org/drawingml/2006/main">
            <a:off x="6496050" y="2524125"/>
            <a:ext cx="48101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75" b="0" i="0">
                <a:solidFill>
                  <a:srgbClr val="193A37"/>
                </a:solidFill>
                <a:latin typeface="Arial"/>
                <a:ea typeface="Arial"/>
                <a:cs typeface="Arial"/>
              </a:defRPr>
            </a:pPr>
            <a:r>
              <a:rPr sz="1875" b="0" i="0">
                <a:solidFill>
                  <a:srgbClr val="193A37"/>
                </a:solidFill>
                <a:latin typeface="Arial"/>
                <a:ea typeface="Arial"/>
                <a:cs typeface="Arial"/>
              </a:rPr>
              <a:t>Identity and record-level authorization</a:t>
            </a:r>
          </a:p>
          <a:p xmlns:a="http://schemas.openxmlformats.org/drawingml/2006/main">
            <a:r>
              <a:t/>
            </a:r>
          </a:p>
          <a:p xmlns:a="http://schemas.openxmlformats.org/drawingml/2006/main">
            <a:pPr algn="l">
              <a:lnSpc>
                <a:spcPct val="106000"/>
              </a:lnSpc>
              <a:buNone/>
              <a:defRPr sz="1875" b="0" i="0">
                <a:solidFill>
                  <a:srgbClr val="193A37"/>
                </a:solidFill>
                <a:latin typeface="Arial"/>
                <a:ea typeface="Arial"/>
                <a:cs typeface="Arial"/>
              </a:defRPr>
            </a:pPr>
            <a:r>
              <a:rPr sz="1875" b="0" i="0">
                <a:solidFill>
                  <a:srgbClr val="193A37"/>
                </a:solidFill>
                <a:latin typeface="Arial"/>
                <a:ea typeface="Arial"/>
                <a:cs typeface="Arial"/>
              </a:rPr>
              <a:t>Data storage, tenancy and audit retention</a:t>
            </a:r>
          </a:p>
          <a:p xmlns:a="http://schemas.openxmlformats.org/drawingml/2006/main">
            <a:r>
              <a:t/>
            </a:r>
          </a:p>
          <a:p xmlns:a="http://schemas.openxmlformats.org/drawingml/2006/main">
            <a:pPr algn="l">
              <a:lnSpc>
                <a:spcPct val="106000"/>
              </a:lnSpc>
              <a:buNone/>
              <a:defRPr sz="1875" b="0" i="0">
                <a:solidFill>
                  <a:srgbClr val="193A37"/>
                </a:solidFill>
                <a:latin typeface="Arial"/>
                <a:ea typeface="Arial"/>
                <a:cs typeface="Arial"/>
              </a:defRPr>
            </a:pPr>
            <a:r>
              <a:rPr sz="1875" b="0" i="0">
                <a:solidFill>
                  <a:srgbClr val="193A37"/>
                </a:solidFill>
                <a:latin typeface="Arial"/>
                <a:ea typeface="Arial"/>
                <a:cs typeface="Arial"/>
              </a:rPr>
              <a:t>Secrets, network policy and approvals</a:t>
            </a:r>
          </a:p>
        </p:txBody>
      </p:sp>
      <p:sp>
        <p:nvSpPr>
          <p:cNvPr id="7" name="sec-note">
            <a:extLst xmlns:a="http://schemas.openxmlformats.org/drawingml/2006/main">
              <a:ext uri="{FF2B5EF4-FFF2-40B4-BE49-F238E27FC236}">
                <a16:creationId xmlns:a16="http://schemas.microsoft.com/office/drawing/2014/main" id="{04DD61D6-F75C-4E59-8E0D-FDD12F06CA71}"/>
              </a:ext>
            </a:extLst>
          </p:cNvPr>
          <p:cNvSpPr>
            <a:spLocks xmlns:a="http://schemas.openxmlformats.org/drawingml/2006/main" noGrp="1"/>
          </p:cNvSpPr>
          <p:nvPr/>
        </p:nvSpPr>
        <p:spPr>
          <a:xfrm xmlns:a="http://schemas.openxmlformats.org/drawingml/2006/main">
            <a:off x="742950" y="5915025"/>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52645F"/>
                </a:solidFill>
                <a:latin typeface="Arial"/>
                <a:ea typeface="Arial"/>
                <a:cs typeface="Arial"/>
              </a:defRPr>
            </a:pPr>
            <a:r>
              <a:rPr sz="1575" b="0" i="0">
                <a:solidFill>
                  <a:srgbClr val="52645F"/>
                </a:solidFill>
                <a:latin typeface="Arial"/>
                <a:ea typeface="Arial"/>
                <a:cs typeface="Arial"/>
              </a:rPr>
              <a:t>Workbench or Connect sign-in does not automatically authorize a Hedron action.</a:t>
            </a:r>
          </a:p>
        </p:txBody>
      </p:sp>
    </p:spTree>
    <p:extLst>
      <p:ext uri="{BB962C8B-B14F-4D97-AF65-F5344CB8AC3E}">
        <p14:creationId xmlns:p14="http://schemas.microsoft.com/office/powerpoint/2010/main" val="1141932500"/>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9" name="title-10">
            <a:extLst xmlns:a="http://schemas.openxmlformats.org/drawingml/2006/main">
              <a:ext uri="{FF2B5EF4-FFF2-40B4-BE49-F238E27FC236}">
                <a16:creationId xmlns:a16="http://schemas.microsoft.com/office/drawing/2014/main" id="{837FA992-1566-42B4-A287-5D6E3BC9EE93}"/>
              </a:ext>
            </a:extLst>
          </p:cNvPr>
          <p:cNvSpPr>
            <a:spLocks xmlns:a="http://schemas.openxmlformats.org/drawingml/2006/main" noGrp="1"/>
          </p:cNvSpPr>
          <p:nvPr/>
        </p:nvSpPr>
        <p:spPr>
          <a:xfrm xmlns:a="http://schemas.openxmlformats.org/drawingml/2006/main">
            <a:off x="685800" y="4191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93A37"/>
                </a:solidFill>
                <a:latin typeface="Georgia"/>
                <a:ea typeface="Georgia"/>
                <a:cs typeface="Georgia"/>
              </a:defRPr>
            </a:pPr>
            <a:r>
              <a:rPr sz="3150" b="0" i="0">
                <a:solidFill>
                  <a:srgbClr val="193A37"/>
                </a:solidFill>
                <a:latin typeface="Georgia"/>
                <a:ea typeface="Georgia"/>
                <a:cs typeface="Georgia"/>
              </a:rPr>
              <a:t>A good first pilot</a:t>
            </a:r>
          </a:p>
        </p:txBody>
      </p:sp>
      <p:sp>
        <p:nvSpPr>
          <p:cNvPr id="2" name="page-10">
            <a:extLst xmlns:a="http://schemas.openxmlformats.org/drawingml/2006/main">
              <a:ext uri="{FF2B5EF4-FFF2-40B4-BE49-F238E27FC236}">
                <a16:creationId xmlns:a16="http://schemas.microsoft.com/office/drawing/2014/main" id="{240B9761-0A8A-4A85-BBCF-7AA696AA0122}"/>
              </a:ext>
            </a:extLst>
          </p:cNvPr>
          <p:cNvSpPr>
            <a:spLocks xmlns:a="http://schemas.openxmlformats.org/drawingml/2006/main" noGrp="1"/>
          </p:cNvSpPr>
          <p:nvPr/>
        </p:nvSpPr>
        <p:spPr>
          <a:xfrm xmlns:a="http://schemas.openxmlformats.org/drawingml/2006/main">
            <a:off x="11372850" y="6410325"/>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52645F"/>
                </a:solidFill>
                <a:latin typeface="Arial"/>
                <a:ea typeface="Arial"/>
                <a:cs typeface="Arial"/>
              </a:defRPr>
            </a:pPr>
            <a:r>
              <a:rPr sz="1050" b="0" i="0">
                <a:solidFill>
                  <a:srgbClr val="52645F"/>
                </a:solidFill>
                <a:latin typeface="Arial"/>
                <a:ea typeface="Arial"/>
                <a:cs typeface="Arial"/>
              </a:rPr>
              <a:t>10</a:t>
            </a:r>
          </a:p>
        </p:txBody>
      </p:sp>
      <p:sp>
        <p:nvSpPr>
          <p:cNvPr id="3" name="pilot-proposal">
            <a:extLst xmlns:a="http://schemas.openxmlformats.org/drawingml/2006/main">
              <a:ext uri="{FF2B5EF4-FFF2-40B4-BE49-F238E27FC236}">
                <a16:creationId xmlns:a16="http://schemas.microsoft.com/office/drawing/2014/main" id="{4A29B3DE-36BE-44D3-A36A-62ED382BC990}"/>
              </a:ext>
            </a:extLst>
          </p:cNvPr>
          <p:cNvSpPr>
            <a:spLocks xmlns:a="http://schemas.openxmlformats.org/drawingml/2006/main" noGrp="1"/>
          </p:cNvSpPr>
          <p:nvPr/>
        </p:nvSpPr>
        <p:spPr>
          <a:xfrm xmlns:a="http://schemas.openxmlformats.org/drawingml/2006/main">
            <a:off x="733425" y="15049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0" i="0">
                <a:solidFill>
                  <a:srgbClr val="17645E"/>
                </a:solidFill>
                <a:latin typeface="Georgia"/>
                <a:ea typeface="Georgia"/>
                <a:cs typeface="Georgia"/>
              </a:defRPr>
            </a:pPr>
            <a:r>
              <a:rPr sz="3150" b="0" i="0">
                <a:solidFill>
                  <a:srgbClr val="17645E"/>
                </a:solidFill>
                <a:latin typeface="Georgia"/>
                <a:ea typeface="Georgia"/>
                <a:cs typeface="Georgia"/>
              </a:rPr>
              <a:t>Choose one maintained internal dashboard with filters, a form and a clear data owner.</a:t>
            </a:r>
          </a:p>
        </p:txBody>
      </p:sp>
      <p:sp>
        <p:nvSpPr>
          <p:cNvPr id="4" name="pilot-step-1">
            <a:extLst xmlns:a="http://schemas.openxmlformats.org/drawingml/2006/main">
              <a:ext uri="{FF2B5EF4-FFF2-40B4-BE49-F238E27FC236}">
                <a16:creationId xmlns:a16="http://schemas.microsoft.com/office/drawing/2014/main" id="{9890F485-B589-4CA9-952A-3FCEA2CC3531}"/>
              </a:ext>
            </a:extLst>
          </p:cNvPr>
          <p:cNvSpPr>
            <a:spLocks xmlns:a="http://schemas.openxmlformats.org/drawingml/2006/main" noGrp="1"/>
          </p:cNvSpPr>
          <p:nvPr/>
        </p:nvSpPr>
        <p:spPr>
          <a:xfrm xmlns:a="http://schemas.openxmlformats.org/drawingml/2006/main">
            <a:off x="762000" y="35433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i="0">
                <a:solidFill>
                  <a:srgbClr val="193A37"/>
                </a:solidFill>
                <a:latin typeface="Arial"/>
                <a:ea typeface="Arial"/>
                <a:cs typeface="Arial"/>
              </a:defRPr>
            </a:pPr>
            <a:r>
              <a:rPr sz="2100" b="1" i="0">
                <a:solidFill>
                  <a:srgbClr val="193A37"/>
                </a:solidFill>
                <a:latin typeface="Arial"/>
                <a:ea typeface="Arial"/>
                <a:cs typeface="Arial"/>
              </a:rPr>
              <a:t>Build it in Workbench</a:t>
            </a:r>
          </a:p>
        </p:txBody>
      </p:sp>
      <p:sp>
        <p:nvSpPr>
          <p:cNvPr id="5" name="pilot-body-1">
            <a:extLst xmlns:a="http://schemas.openxmlformats.org/drawingml/2006/main">
              <a:ext uri="{FF2B5EF4-FFF2-40B4-BE49-F238E27FC236}">
                <a16:creationId xmlns:a16="http://schemas.microsoft.com/office/drawing/2014/main" id="{584FF45C-D4AC-4B7F-95F4-30672021B8EE}"/>
              </a:ext>
            </a:extLst>
          </p:cNvPr>
          <p:cNvSpPr>
            <a:spLocks xmlns:a="http://schemas.openxmlformats.org/drawingml/2006/main" noGrp="1"/>
          </p:cNvSpPr>
          <p:nvPr/>
        </p:nvSpPr>
        <p:spPr>
          <a:xfrm xmlns:a="http://schemas.openxmlformats.org/drawingml/2006/main">
            <a:off x="762000" y="40195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i="0">
                <a:solidFill>
                  <a:srgbClr val="52645F"/>
                </a:solidFill>
                <a:latin typeface="Arial"/>
                <a:ea typeface="Arial"/>
                <a:cs typeface="Arial"/>
              </a:defRPr>
            </a:pPr>
            <a:r>
              <a:rPr sz="1725" b="0" i="0">
                <a:solidFill>
                  <a:srgbClr val="52645F"/>
                </a:solidFill>
                <a:latin typeface="Arial"/>
                <a:ea typeface="Arial"/>
                <a:cs typeface="Arial"/>
              </a:rPr>
              <a:t>Use the current approved Python environment and normal FastAPI tests.</a:t>
            </a:r>
          </a:p>
        </p:txBody>
      </p:sp>
      <p:sp>
        <p:nvSpPr>
          <p:cNvPr id="6" name="pilot-step-2">
            <a:extLst xmlns:a="http://schemas.openxmlformats.org/drawingml/2006/main">
              <a:ext uri="{FF2B5EF4-FFF2-40B4-BE49-F238E27FC236}">
                <a16:creationId xmlns:a16="http://schemas.microsoft.com/office/drawing/2014/main" id="{2536678F-7E70-40D9-AA9A-61EA30F521B8}"/>
              </a:ext>
            </a:extLst>
          </p:cNvPr>
          <p:cNvSpPr>
            <a:spLocks xmlns:a="http://schemas.openxmlformats.org/drawingml/2006/main" noGrp="1"/>
          </p:cNvSpPr>
          <p:nvPr/>
        </p:nvSpPr>
        <p:spPr>
          <a:xfrm xmlns:a="http://schemas.openxmlformats.org/drawingml/2006/main">
            <a:off x="6496050" y="35433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i="0">
                <a:solidFill>
                  <a:srgbClr val="193A37"/>
                </a:solidFill>
                <a:latin typeface="Arial"/>
                <a:ea typeface="Arial"/>
                <a:cs typeface="Arial"/>
              </a:defRPr>
            </a:pPr>
            <a:r>
              <a:rPr sz="2100" b="1" i="0">
                <a:solidFill>
                  <a:srgbClr val="193A37"/>
                </a:solidFill>
                <a:latin typeface="Arial"/>
                <a:ea typeface="Arial"/>
                <a:cs typeface="Arial"/>
              </a:rPr>
              <a:t>Publish beside Streamlit</a:t>
            </a:r>
          </a:p>
        </p:txBody>
      </p:sp>
      <p:sp>
        <p:nvSpPr>
          <p:cNvPr id="7" name="pilot-body-2">
            <a:extLst xmlns:a="http://schemas.openxmlformats.org/drawingml/2006/main">
              <a:ext uri="{FF2B5EF4-FFF2-40B4-BE49-F238E27FC236}">
                <a16:creationId xmlns:a16="http://schemas.microsoft.com/office/drawing/2014/main" id="{BB49FFDE-9B28-4C6F-A102-9F01335C53D1}"/>
              </a:ext>
            </a:extLst>
          </p:cNvPr>
          <p:cNvSpPr>
            <a:spLocks xmlns:a="http://schemas.openxmlformats.org/drawingml/2006/main" noGrp="1"/>
          </p:cNvSpPr>
          <p:nvPr/>
        </p:nvSpPr>
        <p:spPr>
          <a:xfrm xmlns:a="http://schemas.openxmlformats.org/drawingml/2006/main">
            <a:off x="6496050" y="4019550"/>
            <a:ext cx="47625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i="0">
                <a:solidFill>
                  <a:srgbClr val="52645F"/>
                </a:solidFill>
                <a:latin typeface="Arial"/>
                <a:ea typeface="Arial"/>
                <a:cs typeface="Arial"/>
              </a:defRPr>
            </a:pPr>
            <a:r>
              <a:rPr sz="1725" b="0" i="0">
                <a:solidFill>
                  <a:srgbClr val="52645F"/>
                </a:solidFill>
                <a:latin typeface="Arial"/>
                <a:ea typeface="Arial"/>
                <a:cs typeface="Arial"/>
              </a:rPr>
              <a:t>Use a non-production Connect space and compare tasks, access and operations.</a:t>
            </a:r>
          </a:p>
        </p:txBody>
      </p:sp>
      <p:sp>
        <p:nvSpPr>
          <p:cNvPr id="8" name="pilot-note">
            <a:extLst xmlns:a="http://schemas.openxmlformats.org/drawingml/2006/main">
              <a:ext uri="{FF2B5EF4-FFF2-40B4-BE49-F238E27FC236}">
                <a16:creationId xmlns:a16="http://schemas.microsoft.com/office/drawing/2014/main" id="{C5573216-E780-4397-95F9-1CC6164F356B}"/>
              </a:ext>
            </a:extLst>
          </p:cNvPr>
          <p:cNvSpPr>
            <a:spLocks xmlns:a="http://schemas.openxmlformats.org/drawingml/2006/main" noGrp="1"/>
          </p:cNvSpPr>
          <p:nvPr/>
        </p:nvSpPr>
        <p:spPr>
          <a:xfrm xmlns:a="http://schemas.openxmlformats.org/drawingml/2006/main">
            <a:off x="752475" y="5829300"/>
            <a:ext cx="10382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52645F"/>
                </a:solidFill>
                <a:latin typeface="Arial"/>
                <a:ea typeface="Arial"/>
                <a:cs typeface="Arial"/>
              </a:defRPr>
            </a:pPr>
            <a:r>
              <a:rPr sz="1575" b="0" i="0">
                <a:solidFill>
                  <a:srgbClr val="52645F"/>
                </a:solidFill>
                <a:latin typeface="Arial"/>
                <a:ea typeface="Arial"/>
                <a:cs typeface="Arial"/>
              </a:rPr>
              <a:t>Stay with Streamlit for short-lived analysis or workflows built around its rerun model.</a:t>
            </a:r>
          </a:p>
        </p:txBody>
      </p:sp>
    </p:spTree>
    <p:extLst>
      <p:ext uri="{BB962C8B-B14F-4D97-AF65-F5344CB8AC3E}">
        <p14:creationId xmlns:p14="http://schemas.microsoft.com/office/powerpoint/2010/main" val="2101351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2026-09-23T16:40:56.0720000Z</dcterms:created>
  <dcterms:modified xsi:type="dcterms:W3CDTF">2026-09-23T16:40:56.0720000Z</dcterms:modified>
</coreProperties>
</file>