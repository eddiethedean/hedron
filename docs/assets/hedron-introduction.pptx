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93c6a2cf7e4f20" /><Relationship Type="http://schemas.openxmlformats.org/officeDocument/2006/relationships/extended-properties" Target="/docProps/app.xml" Id="Ra5c20d75db044e57" /><Relationship Type="http://schemas.openxmlformats.org/officeDocument/2006/relationships/officeDocument" Target="/ppt/presentation.xml" Id="R0e3d3f5e4893421e" /></Relationships>
</file>

<file path=ppt/presentation.xml><?xml version="1.0" encoding="utf-8"?>
<p:presentation xmlns:p="http://schemas.openxmlformats.org/presentationml/2006/main">
  <p:sldMasterIdLst>
    <p:sldMasterId xmlns:r="http://schemas.openxmlformats.org/officeDocument/2006/relationships" id="2147483648" r:id="Rb465e75d72064de1"/>
  </p:sldMasterIdLst>
  <p:notesMasterIdLst>
    <p:notesMasterId xmlns:r="http://schemas.openxmlformats.org/officeDocument/2006/relationships" r:id="R07fef817b5de4ab7"/>
  </p:notesMasterIdLst>
  <p:sldIdLst>
    <p:sldId xmlns:r="http://schemas.openxmlformats.org/officeDocument/2006/relationships" id="256" r:id="Rffd7bcf17f75413d"/>
    <p:sldId xmlns:r="http://schemas.openxmlformats.org/officeDocument/2006/relationships" id="257" r:id="R55291d8a80e642e4"/>
    <p:sldId xmlns:r="http://schemas.openxmlformats.org/officeDocument/2006/relationships" id="258" r:id="Red7666d16e544491"/>
    <p:sldId xmlns:r="http://schemas.openxmlformats.org/officeDocument/2006/relationships" id="259" r:id="R1e178d07d74f4dc6"/>
    <p:sldId xmlns:r="http://schemas.openxmlformats.org/officeDocument/2006/relationships" id="260" r:id="R4ddac6681bb84501"/>
    <p:sldId xmlns:r="http://schemas.openxmlformats.org/officeDocument/2006/relationships" id="261" r:id="R5da3e30aa37c4d57"/>
    <p:sldId xmlns:r="http://schemas.openxmlformats.org/officeDocument/2006/relationships" id="262" r:id="Rc311316509304638"/>
    <p:sldId xmlns:r="http://schemas.openxmlformats.org/officeDocument/2006/relationships" id="263" r:id="Rb2f2307905f648dd"/>
    <p:sldId xmlns:r="http://schemas.openxmlformats.org/officeDocument/2006/relationships" id="264" r:id="Rd03f2652d3fb4994"/>
    <p:sldId xmlns:r="http://schemas.openxmlformats.org/officeDocument/2006/relationships" id="265" r:id="R338a5dabae8a41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ea8f8b53c24e07" /><Relationship Type="http://schemas.openxmlformats.org/officeDocument/2006/relationships/slideMaster" Target="/ppt/slideMasters/slideMaster1.xml" Id="Rb465e75d72064de1" /><Relationship Type="http://schemas.openxmlformats.org/officeDocument/2006/relationships/notesMaster" Target="/ppt/notesMasters/notesMaster1.xml" Id="R07fef817b5de4ab7" /><Relationship Type="http://schemas.openxmlformats.org/officeDocument/2006/relationships/presProps" Target="/ppt/presProps.xml" Id="R6c5a4f39d8d54e7b" /><Relationship Type="http://schemas.openxmlformats.org/officeDocument/2006/relationships/tableStyles" Target="/ppt/tableStyles.xml" Id="R837336920f50448c" /><Relationship Type="http://schemas.openxmlformats.org/officeDocument/2006/relationships/slide" Target="/ppt/slides/slide1.xml" Id="Rffd7bcf17f75413d" /><Relationship Type="http://schemas.openxmlformats.org/officeDocument/2006/relationships/slide" Target="/ppt/slides/slide2.xml" Id="R55291d8a80e642e4" /><Relationship Type="http://schemas.openxmlformats.org/officeDocument/2006/relationships/slide" Target="/ppt/slides/slide3.xml" Id="Red7666d16e544491" /><Relationship Type="http://schemas.openxmlformats.org/officeDocument/2006/relationships/slide" Target="/ppt/slides/slide4.xml" Id="R1e178d07d74f4dc6" /><Relationship Type="http://schemas.openxmlformats.org/officeDocument/2006/relationships/slide" Target="/ppt/slides/slide5.xml" Id="R4ddac6681bb84501" /><Relationship Type="http://schemas.openxmlformats.org/officeDocument/2006/relationships/slide" Target="/ppt/slides/slide6.xml" Id="R5da3e30aa37c4d57" /><Relationship Type="http://schemas.openxmlformats.org/officeDocument/2006/relationships/slide" Target="/ppt/slides/slide7.xml" Id="Rc311316509304638" /><Relationship Type="http://schemas.openxmlformats.org/officeDocument/2006/relationships/slide" Target="/ppt/slides/slide8.xml" Id="Rb2f2307905f648dd" /><Relationship Type="http://schemas.openxmlformats.org/officeDocument/2006/relationships/slide" Target="/ppt/slides/slide9.xml" Id="Rd03f2652d3fb4994" /><Relationship Type="http://schemas.openxmlformats.org/officeDocument/2006/relationships/slide" Target="/ppt/slides/slide10.xml" Id="R338a5dabae8a41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d613aaae846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cda3d365b2413f" /><Relationship Type="http://schemas.openxmlformats.org/officeDocument/2006/relationships/notesMaster" Target="/ppt/notesMasters/notesMaster1.xml" Id="Rc51ae75d817745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e1623c943945a9" /><Relationship Type="http://schemas.openxmlformats.org/officeDocument/2006/relationships/notesMaster" Target="/ppt/notesMasters/notesMaster1.xml" Id="Rfbacd7eb426e41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fd63f041e49bf" /><Relationship Type="http://schemas.openxmlformats.org/officeDocument/2006/relationships/notesMaster" Target="/ppt/notesMasters/notesMaster1.xml" Id="R8f0e6ede03674b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e9de7294554505" /><Relationship Type="http://schemas.openxmlformats.org/officeDocument/2006/relationships/notesMaster" Target="/ppt/notesMasters/notesMaster1.xml" Id="R2a89e3075e4f4b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430c9485c9453a" /><Relationship Type="http://schemas.openxmlformats.org/officeDocument/2006/relationships/notesMaster" Target="/ppt/notesMasters/notesMaster1.xml" Id="R76b5cfcc0fbf4b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5c182713484d89" /><Relationship Type="http://schemas.openxmlformats.org/officeDocument/2006/relationships/notesMaster" Target="/ppt/notesMasters/notesMaster1.xml" Id="R2a7a71867f4b4c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f579292443401d" /><Relationship Type="http://schemas.openxmlformats.org/officeDocument/2006/relationships/notesMaster" Target="/ppt/notesMasters/notesMaster1.xml" Id="Rbae42f508d9147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89d9423f834b62" /><Relationship Type="http://schemas.openxmlformats.org/officeDocument/2006/relationships/notesMaster" Target="/ppt/notesMasters/notesMaster1.xml" Id="R05bc4cf0c7a549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97df6060494152" /><Relationship Type="http://schemas.openxmlformats.org/officeDocument/2006/relationships/notesMaster" Target="/ppt/notesMasters/notesMaster1.xml" Id="Rc6918d985e9c49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611920cae04d72" /><Relationship Type="http://schemas.openxmlformats.org/officeDocument/2006/relationships/notesMaster" Target="/ppt/notesMasters/notesMaster1.xml" Id="R38ec2a6c8c1846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Hedron lets a Python team build a maintained web application using Python components and the FastAPI request model. Introduce the product through the interface it produces, then explain pages, views and actions. The presentation covers a deployment option later, after the application model is clear. Hedron 1.1.1 is the current published coordinated release documented by this repository.</a:t>
            </a:r>
          </a:p>
          <a:p xmlns:a="http://schemas.openxmlformats.org/drawingml/2006/main">
            <a:r>
              <a:t/>
            </a:r>
          </a:p>
          <a:p xmlns:a="http://schemas.openxmlformats.org/drawingml/2006/main">
            <a:r>
              <a:t>Sources:</a:t>
            </a:r>
          </a:p>
          <a:p xmlns:a="http://schemas.openxmlformats.org/drawingml/2006/main">
            <a:r>
              <a:t>- Repository README.md and docs/STATUS.md at 6805f107</a:t>
            </a:r>
          </a:p>
          <a:p xmlns:a="http://schemas.openxmlformats.org/drawingml/2006/main">
            <a:r>
              <a:t>- Repository docs/assets/hedron-logo-light.svg and docs/assets/polyhedron-mesh.svg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Hedron is a Python framework for server-rendered interfaces on FastAPI. A handler returns a component tree, which the renderer turns into HTML. Developers can use existing FastAPI middleware, dependency injection, typed validation and JSON routes in the same application. Standard application authoring does not require a separate frontend application or Node.js build. Browser code still exists: Hedron ships the assets used for bounded server interactions and local controls. The framework-neutral renderer also supports separate Flask and Django adapters.</a:t>
            </a:r>
          </a:p>
          <a:p xmlns:a="http://schemas.openxmlformats.org/drawingml/2006/main">
            <a:r>
              <a:t/>
            </a:r>
          </a:p>
          <a:p xmlns:a="http://schemas.openxmlformats.org/drawingml/2006/main">
            <a:r>
              <a:t>Sources:</a:t>
            </a:r>
          </a:p>
          <a:p xmlns:a="http://schemas.openxmlformats.org/drawingml/2006/main">
            <a:r>
              <a:t>- Repository README.md</a:t>
            </a:r>
          </a:p>
          <a:p xmlns:a="http://schemas.openxmlformats.org/drawingml/2006/main">
            <a:r>
              <a:t>- Repository docs/ARCHITECTURE.md</a:t>
            </a:r>
          </a:p>
          <a:p xmlns:a="http://schemas.openxmlformats.org/drawingml/2006/main">
            <a:r>
              <a:t>- Repository packages/hedron/src/hedron/app/hedron.py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screenshot to make the product concrete. It comes from the runnable Hedron Showcase, an operations console built with the public component, layout, styling, view and action APIs. The screenshot shows synthetic demo data, so its numbers are not claims about production performance or adoption. The crop focuses on navigation, metrics and the release workflow. The full example also includes tables and other controls. A team supplies its own authorized data and application services behind these components.</a:t>
            </a:r>
          </a:p>
          <a:p xmlns:a="http://schemas.openxmlformats.org/drawingml/2006/main">
            <a:r>
              <a:t/>
            </a:r>
          </a:p>
          <a:p xmlns:a="http://schemas.openxmlformats.org/drawingml/2006/main">
            <a:r>
              <a:t>Sources:</a:t>
            </a:r>
          </a:p>
          <a:p xmlns:a="http://schemas.openxmlformats.org/drawingml/2006/main">
            <a:r>
              <a:t>- Repository examples/showcase/app.py</a:t>
            </a:r>
          </a:p>
          <a:p xmlns:a="http://schemas.openxmlformats.org/drawingml/2006/main">
            <a:r>
              <a:t>- Repository examples/showcase/README.md</a:t>
            </a:r>
          </a:p>
          <a:p xmlns:a="http://schemas.openxmlformats.org/drawingml/2006/main">
            <a:r>
              <a:t>- Repository docs/assets/hedron-showcase.jpg</a:t>
            </a:r>
          </a:p>
          <a:p xmlns:a="http://schemas.openxmlformats.org/drawingml/2006/main">
            <a:r>
              <a:t>- https://hedron.readthedocs.io/en/latest/examples/showcase/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page is a complete navigable document. A view is an independently addressable read region that can be composed into a page and refreshed later. An action handles an unsafe request, normally POST, and declares the outcome. The application must authorize the action and apply its own business rules. Hedron authorizes declared fragment and out-of-band targets before rendering the response. Creating a component does not publish a route. HTMX carries interactions across the server boundary. Alpine handles temporary presentation state in controls such as disclosures and menus.</a:t>
            </a:r>
          </a:p>
          <a:p xmlns:a="http://schemas.openxmlformats.org/drawingml/2006/main">
            <a:r>
              <a:t/>
            </a:r>
          </a:p>
          <a:p xmlns:a="http://schemas.openxmlformats.org/drawingml/2006/main">
            <a:r>
              <a:t>Sources:</a:t>
            </a:r>
          </a:p>
          <a:p xmlns:a="http://schemas.openxmlformats.org/drawingml/2006/main">
            <a:r>
              <a:t>- Repository packages/hedron/README.md</a:t>
            </a:r>
          </a:p>
          <a:p xmlns:a="http://schemas.openxmlformats.org/drawingml/2006/main">
            <a:r>
              <a:t>- Repository docs/ARCHITECTURE.md</a:t>
            </a:r>
          </a:p>
          <a:p xmlns:a="http://schemas.openxmlformats.org/drawingml/2006/main">
            <a:r>
              <a:t>- Repository docs/api/HTMX_ALPINE_BOUNDARY_1_0.md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example in two passes. On GET /, home composes the status view and its refresh button into a page. Selecting Refresh requests /status and replaces that view region. The rest of the page remains in place. The decorator returns a handle that supports both initial composition and the refresh helper. This is a minimal local example using the standard security profile by default. Configure an explicit secret and production settings before deployment. For writes, add an action backed by application authorization and a validated request model.</a:t>
            </a:r>
          </a:p>
          <a:p xmlns:a="http://schemas.openxmlformats.org/drawingml/2006/main">
            <a:r>
              <a:t/>
            </a:r>
          </a:p>
          <a:p xmlns:a="http://schemas.openxmlformats.org/drawingml/2006/main">
            <a:r>
              <a:t>Sources:</a:t>
            </a:r>
          </a:p>
          <a:p xmlns:a="http://schemas.openxmlformats.org/drawingml/2006/main">
            <a:r>
              <a:t>- Repository README.md quickstart</a:t>
            </a:r>
          </a:p>
          <a:p xmlns:a="http://schemas.openxmlformats.org/drawingml/2006/main">
            <a:r>
              <a:t>- Repository docs/getting-started/for-posit-teams/how-it-works.md</a:t>
            </a:r>
          </a:p>
          <a:p xmlns:a="http://schemas.openxmlformats.org/drawingml/2006/main">
            <a:r>
              <a:t>- Repository packages/hedron/src/hedron/app/hedron.py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compares the default execution models rather than ranking the frameworks. Streamlit reruns a script by default as users interact with widgets. Forms can batch changes, and fragments can rerun part of an application. Hedron makes the HTTP request boundary explicit through pages, views and actions. Existing Python queries and models may transfer, while session state and interactions require deliberate design. Evaluate specialized widgets before assuming a direct replacement. Streamlit remains a reasonable fit when its execution model suits the work.</a:t>
            </a:r>
          </a:p>
          <a:p xmlns:a="http://schemas.openxmlformats.org/drawingml/2006/main">
            <a:r>
              <a:t/>
            </a:r>
          </a:p>
          <a:p xmlns:a="http://schemas.openxmlformats.org/drawingml/2006/main">
            <a:r>
              <a:t>Sources:</a:t>
            </a:r>
          </a:p>
          <a:p xmlns:a="http://schemas.openxmlformats.org/drawingml/2006/main">
            <a:r>
              <a:t>- Repository docs/guides/streamlit-migration.md</a:t>
            </a:r>
          </a:p>
          <a:p xmlns:a="http://schemas.openxmlformats.org/drawingml/2006/main">
            <a:r>
              <a:t>- Repository docs/getting-started/for-posit-teams/how-it-works.md</a:t>
            </a:r>
          </a:p>
          <a:p xmlns:a="http://schemas.openxmlformats.org/drawingml/2006/main">
            <a:r>
              <a:t>- https://docs.streamlit.io/develop/api-reference/execution-flow</a:t>
            </a:r>
          </a:p>
          <a:p xmlns:a="http://schemas.openxmlformats.org/drawingml/2006/main">
            <a:r>
              <a:t>- https://docs.streamlit.io/develop/concepts/architecture/forms</a:t>
            </a:r>
          </a:p>
          <a:p xmlns:a="http://schemas.openxmlformats.org/drawingml/2006/main">
            <a:r>
              <a:t>- https://docs.streamlit.io/develop/concepts/architecture/fragments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Hedron adds a web interface around Python services. Data, chart and map packages present results. Typed forms and action routes make inputs and writes explicit. Job backends and status components support longer work, with polling as the conservative supported default. The application still selects persistence, transaction boundaries, authorization and durable queue infrastructure. In-memory jobs and sessions do not automatically span workers. SSE and WebSocket helpers have separate experimental boundaries. Choose integrations using the package compatibility and maturity matrix rather than assuming every satellite shares the stable platform promise.</a:t>
            </a:r>
          </a:p>
          <a:p xmlns:a="http://schemas.openxmlformats.org/drawingml/2006/main">
            <a:r>
              <a:t/>
            </a:r>
          </a:p>
          <a:p xmlns:a="http://schemas.openxmlformats.org/drawingml/2006/main">
            <a:r>
              <a:t>Sources:</a:t>
            </a:r>
          </a:p>
          <a:p xmlns:a="http://schemas.openxmlformats.org/drawingml/2006/main">
            <a:r>
              <a:t>- Repository packages/hedron-data/README.md</a:t>
            </a:r>
          </a:p>
          <a:p xmlns:a="http://schemas.openxmlformats.org/drawingml/2006/main">
            <a:r>
              <a:t>- Repository packages/hedron-charts/README.md</a:t>
            </a:r>
          </a:p>
          <a:p xmlns:a="http://schemas.openxmlformats.org/drawingml/2006/main">
            <a:r>
              <a:t>- Repository packages/hedron-maps/README.md</a:t>
            </a:r>
          </a:p>
          <a:p xmlns:a="http://schemas.openxmlformats.org/drawingml/2006/main">
            <a:r>
              <a:t>- Repository docs/ARCHITECTURE.md</a:t>
            </a:r>
          </a:p>
          <a:p xmlns:a="http://schemas.openxmlformats.org/drawingml/2006/main">
            <a:r>
              <a:t>- Repository release/support-matrix.toml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Framework protections reduce common implementation mistakes, but they do not decide whether a user may see a record or approve a write. The application supplies authentication integration, authorization policies, durable data storage, tenancy and audit retention. CSRF profiles and trusted HTML or URL types must be configured and used correctly. The host platform controls secrets, network policy and deployment operations. A platform login does not automatically authorize a protected application action. Package maturity and individual API stability are separate contracts.</a:t>
            </a:r>
          </a:p>
          <a:p xmlns:a="http://schemas.openxmlformats.org/drawingml/2006/main">
            <a:r>
              <a:t/>
            </a:r>
          </a:p>
          <a:p xmlns:a="http://schemas.openxmlformats.org/drawingml/2006/main">
            <a:r>
              <a:t>Sources:</a:t>
            </a:r>
          </a:p>
          <a:p xmlns:a="http://schemas.openxmlformats.org/drawingml/2006/main">
            <a:r>
              <a:t>- Repository SECURITY.md</a:t>
            </a:r>
          </a:p>
          <a:p xmlns:a="http://schemas.openxmlformats.org/drawingml/2006/main">
            <a:r>
              <a:t>- Repository docs/ARCHITECTURE.md</a:t>
            </a:r>
          </a:p>
          <a:p xmlns:a="http://schemas.openxmlformats.org/drawingml/2006/main">
            <a:r>
              <a:t>- Repository release/support-matrix.toml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deployment option for Hedron. The optional HedronPosit facade supports local use, the Workbench proxy and Connect content paths. In Workbench, use the approved Python environment, configure HEDRON_SESSION_SECRET and launch with hedron-posit run app:app. For Connect, install the package in the content environment and publish the same application object as FastAPI content. A complete command is rsconnect deploy fastapi -n &lt;saved-server-name&gt; --entrypoint app:app ./. Configure access and application secrets through platform policy. Workbench session links are temporary. The application still authorizes protected operations. Check the installed platform versions against Hedron compatibility guidance.</a:t>
            </a:r>
          </a:p>
          <a:p xmlns:a="http://schemas.openxmlformats.org/drawingml/2006/main">
            <a:r>
              <a:t/>
            </a:r>
          </a:p>
          <a:p xmlns:a="http://schemas.openxmlformats.org/drawingml/2006/main">
            <a:r>
              <a:t>Sources:</a:t>
            </a:r>
          </a:p>
          <a:p xmlns:a="http://schemas.openxmlformats.org/drawingml/2006/main">
            <a:r>
              <a:t>- Repository docs/getting-started/for-posit-teams/workbench-connect.md</a:t>
            </a:r>
          </a:p>
          <a:p xmlns:a="http://schemas.openxmlformats.org/drawingml/2006/main">
            <a:r>
              <a:t>- Repository docs/guides/posit.md</a:t>
            </a:r>
          </a:p>
          <a:p xmlns:a="http://schemas.openxmlformats.org/drawingml/2006/main">
            <a:r>
              <a:t>- Repository docs/COMPATIBILITY.md</a:t>
            </a:r>
          </a:p>
          <a:p xmlns:a="http://schemas.openxmlformats.org/drawingml/2006/main">
            <a:r>
              <a:t>- https://docs.posit.co/ide/server-pro/user/vs-code/guide/proxying-web-servers.html</a:t>
            </a:r>
          </a:p>
          <a:p xmlns:a="http://schemas.openxmlformats.org/drawingml/2006/main">
            <a:r>
              <a:t>- https://docs.posit.co/connect/user/fastapi/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a limited pilot around one maintained internal workflow. Preserve useful query, calculation and model code, then redesign the page, refresh and write boundaries explicitly. Select a real user task and a clear data owner. Evaluate usability, authorization, invalid input, error handling and operational ownership before expanding the scope. The pilot can run beside an existing application. The criteria on the slide are evaluation questions, not measured outcomes or promised improvements. The quickstart and runnable examples provide the implementation path.</a:t>
            </a:r>
          </a:p>
          <a:p xmlns:a="http://schemas.openxmlformats.org/drawingml/2006/main">
            <a:r>
              <a:t/>
            </a:r>
          </a:p>
          <a:p xmlns:a="http://schemas.openxmlformats.org/drawingml/2006/main">
            <a:r>
              <a:t>Sources:</a:t>
            </a:r>
          </a:p>
          <a:p xmlns:a="http://schemas.openxmlformats.org/drawingml/2006/main">
            <a:r>
              <a:t>- Repository docs/getting-started/for-posit-teams/migration-pilot.md</a:t>
            </a:r>
          </a:p>
          <a:p xmlns:a="http://schemas.openxmlformats.org/drawingml/2006/main">
            <a:r>
              <a:t>- Repository docs/getting-started/quickstart.md</a:t>
            </a:r>
          </a:p>
          <a:p xmlns:a="http://schemas.openxmlformats.org/drawingml/2006/main">
            <a:r>
              <a:t>- Repository examples/README.md</a:t>
            </a:r>
          </a:p>
          <a:p xmlns:a="http://schemas.openxmlformats.org/drawingml/2006/main">
            <a:r>
              <a:t>- https://hedron.readthedocs.io/en/latest/getting-started/quickstart/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910a7172a549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946a6ec9864c91" /><Relationship Type="http://schemas.openxmlformats.org/officeDocument/2006/relationships/slideLayout" Target="/ppt/slideLayouts/slideLayout1.xml" Id="R40913f06e11247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913f06e11247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9e3b6f45d949ea" /><Relationship Type="http://schemas.openxmlformats.org/officeDocument/2006/relationships/image" Target="/ppt/media/image.png" Id="Rb9994c2f453c45df" /><Relationship Type="http://schemas.openxmlformats.org/officeDocument/2006/relationships/image" Target="/ppt/media/image.svg" Id="R69ee7074049846c6" /><Relationship Type="http://schemas.openxmlformats.org/officeDocument/2006/relationships/image" Target="/ppt/media/image2.png" Id="Rcef5c373b54a4a12" /><Relationship Type="http://schemas.openxmlformats.org/officeDocument/2006/relationships/image" Target="/ppt/media/image2.svg" Id="R9d2ccad9e67a4e02" /><Relationship Type="http://schemas.openxmlformats.org/officeDocument/2006/relationships/notesSlide" Target="/ppt/notesSlides/notesSlide1.xml" Id="R6e22ae339af94e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d3827bca9b4922" /><Relationship Type="http://schemas.openxmlformats.org/officeDocument/2006/relationships/notesSlide" Target="/ppt/notesSlides/notesSlide2.xml" Id="R6bb5db6279734c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3b2691642143f2" /><Relationship Type="http://schemas.openxmlformats.org/officeDocument/2006/relationships/image" Target="/ppt/media/image3.png" Id="R1ba7df9be5c14cd1" /><Relationship Type="http://schemas.openxmlformats.org/officeDocument/2006/relationships/notesSlide" Target="/ppt/notesSlides/notesSlide3.xml" Id="Rb644557aa3894e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5928546dc54e34" /><Relationship Type="http://schemas.openxmlformats.org/officeDocument/2006/relationships/notesSlide" Target="/ppt/notesSlides/notesSlide4.xml" Id="R277890b1ecc943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4edb6ca7d646c1" /><Relationship Type="http://schemas.openxmlformats.org/officeDocument/2006/relationships/notesSlide" Target="/ppt/notesSlides/notesSlide5.xml" Id="R903251c90cfe47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d0ded5723244b3" /><Relationship Type="http://schemas.openxmlformats.org/officeDocument/2006/relationships/notesSlide" Target="/ppt/notesSlides/notesSlide6.xml" Id="Ra5280db71e21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2916a842e24cf7" /><Relationship Type="http://schemas.openxmlformats.org/officeDocument/2006/relationships/notesSlide" Target="/ppt/notesSlides/notesSlide7.xml" Id="Rc163624ab42243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fbc46e58a948b5" /><Relationship Type="http://schemas.openxmlformats.org/officeDocument/2006/relationships/notesSlide" Target="/ppt/notesSlides/notesSlide8.xml" Id="Rac89403ec2574a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e87dc56f26468f" /><Relationship Type="http://schemas.openxmlformats.org/officeDocument/2006/relationships/notesSlide" Target="/ppt/notesSlides/notesSlide9.xml" Id="R3f87a93b1f4f41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3869f5524145b3" /><Relationship Type="http://schemas.openxmlformats.org/officeDocument/2006/relationships/hyperlink" Target="https://hedron.readthedocs.io/en/latest/getting-started/quickstart/" TargetMode="External" Id="R3062f235aed04155" /><Relationship Type="http://schemas.openxmlformats.org/officeDocument/2006/relationships/notesSlide" Target="/ppt/notesSlides/notesSlide10.xml" Id="Rf0680e8f94404c26"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9994c2f453c45df">
            <a:extLst>
              <a:ext uri="{96DAC541-7B7A-43D3-8B79-37D633B846F1}">
                <asvg:svgBlip xmlns:asvg="http://schemas.microsoft.com/office/drawing/2016/SVG/main" r:embed="R69ee7074049846c6"/>
              </a:ext>
            </a:extLst>
          </a:blip>
          <a:stretch xmlns:a="http://schemas.openxmlformats.org/drawingml/2006/main"/>
        </p:blipFill>
        <p:spPr>
          <a:xfrm xmlns:a="http://schemas.openxmlformats.org/drawingml/2006/main">
            <a:off x="638175" y="428625"/>
            <a:ext cx="2800350" cy="8763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C0EF01AA-4468-4E78-AC4F-B2BB70922505}"/>
              </a:ext>
            </a:extLst>
          </p:cNvPr>
          <p:cNvSpPr>
            <a:spLocks xmlns:a="http://schemas.openxmlformats.org/drawingml/2006/main" noGrp="1"/>
          </p:cNvSpPr>
          <p:nvPr/>
        </p:nvSpPr>
        <p:spPr>
          <a:xfrm xmlns:a="http://schemas.openxmlformats.org/drawingml/2006/main">
            <a:off x="685800" y="2076450"/>
            <a:ext cx="7524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5250" b="0">
                <a:solidFill>
                  <a:srgbClr val="193A37"/>
                </a:solidFill>
                <a:latin typeface="Georgia"/>
                <a:ea typeface="Georgia"/>
                <a:cs typeface="Georgia"/>
              </a:defRPr>
            </a:pPr>
            <a:r>
              <a:rPr sz="5250" b="0">
                <a:solidFill>
                  <a:srgbClr val="193A37"/>
                </a:solidFill>
                <a:latin typeface="Georgia"/>
                <a:ea typeface="Georgia"/>
                <a:cs typeface="Georgia"/>
              </a:rPr>
              <a:t>Web applications</a:t>
            </a:r>
          </a:p>
          <a:p xmlns:a="http://schemas.openxmlformats.org/drawingml/2006/main">
            <a:pPr>
              <a:lnSpc>
                <a:spcPct val="112000"/>
              </a:lnSpc>
              <a:buNone/>
              <a:defRPr sz="5250" b="0">
                <a:solidFill>
                  <a:srgbClr val="193A37"/>
                </a:solidFill>
                <a:latin typeface="Georgia"/>
                <a:ea typeface="Georgia"/>
                <a:cs typeface="Georgia"/>
              </a:defRPr>
            </a:pPr>
            <a:r>
              <a:rPr sz="5250" b="0">
                <a:solidFill>
                  <a:srgbClr val="193A37"/>
                </a:solidFill>
                <a:latin typeface="Georgia"/>
                <a:ea typeface="Georgia"/>
                <a:cs typeface="Georgia"/>
              </a:rPr>
              <a:t>in Python</a:t>
            </a:r>
          </a:p>
        </p:txBody>
      </p:sp>
      <p:sp>
        <p:nvSpPr>
          <p:cNvPr id="3" name="cover-subtitle">
            <a:extLst xmlns:a="http://schemas.openxmlformats.org/drawingml/2006/main">
              <a:ext uri="{FF2B5EF4-FFF2-40B4-BE49-F238E27FC236}">
                <a16:creationId xmlns:a16="http://schemas.microsoft.com/office/drawing/2014/main" id="{281FC7C5-C4D9-439F-9D9F-9B39BFF68540}"/>
              </a:ext>
            </a:extLst>
          </p:cNvPr>
          <p:cNvSpPr>
            <a:spLocks xmlns:a="http://schemas.openxmlformats.org/drawingml/2006/main" noGrp="1"/>
          </p:cNvSpPr>
          <p:nvPr/>
        </p:nvSpPr>
        <p:spPr>
          <a:xfrm xmlns:a="http://schemas.openxmlformats.org/drawingml/2006/main">
            <a:off x="723900" y="4305300"/>
            <a:ext cx="7667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400" b="0">
                <a:solidFill>
                  <a:srgbClr val="17645E"/>
                </a:solidFill>
                <a:latin typeface="Arial"/>
                <a:ea typeface="Arial"/>
                <a:cs typeface="Arial"/>
              </a:defRPr>
            </a:pPr>
            <a:r>
              <a:rPr sz="2400" b="0">
                <a:solidFill>
                  <a:srgbClr val="17645E"/>
                </a:solidFill>
                <a:latin typeface="Arial"/>
                <a:ea typeface="Arial"/>
                <a:cs typeface="Arial"/>
              </a:rPr>
              <a:t>Interactive pages on FastAPI</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ef5c373b54a4a12">
            <a:extLst>
              <a:ext uri="{96DAC541-7B7A-43D3-8B79-37D633B846F1}">
                <asvg:svgBlip xmlns:asvg="http://schemas.microsoft.com/office/drawing/2016/SVG/main" r:embed="R9d2ccad9e67a4e02"/>
              </a:ext>
            </a:extLst>
          </a:blip>
          <a:stretch xmlns:a="http://schemas.openxmlformats.org/drawingml/2006/main"/>
        </p:blipFill>
        <p:spPr>
          <a:xfrm xmlns:a="http://schemas.openxmlformats.org/drawingml/2006/main">
            <a:off x="8667750" y="2143125"/>
            <a:ext cx="2857500" cy="2543175"/>
          </a:xfrm>
          <a:prstGeom xmlns:a="http://schemas.openxmlformats.org/drawingml/2006/main" prst="rect">
            <a:avLst/>
          </a:prstGeom>
        </p:spPr>
      </p:pic>
      <p:sp>
        <p:nvSpPr>
          <p:cNvPr id="5" name="cover-meta">
            <a:extLst xmlns:a="http://schemas.openxmlformats.org/drawingml/2006/main">
              <a:ext uri="{FF2B5EF4-FFF2-40B4-BE49-F238E27FC236}">
                <a16:creationId xmlns:a16="http://schemas.microsoft.com/office/drawing/2014/main" id="{04099C07-F012-43B9-9F13-6769E3CECD65}"/>
              </a:ext>
            </a:extLst>
          </p:cNvPr>
          <p:cNvSpPr>
            <a:spLocks xmlns:a="http://schemas.openxmlformats.org/drawingml/2006/main" noGrp="1"/>
          </p:cNvSpPr>
          <p:nvPr/>
        </p:nvSpPr>
        <p:spPr>
          <a:xfrm xmlns:a="http://schemas.openxmlformats.org/drawingml/2006/main">
            <a:off x="723900" y="6067425"/>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b="0">
                <a:solidFill>
                  <a:srgbClr val="52645F"/>
                </a:solidFill>
                <a:latin typeface="Arial"/>
                <a:ea typeface="Arial"/>
                <a:cs typeface="Arial"/>
              </a:defRPr>
            </a:pPr>
            <a:r>
              <a:rPr sz="1500" b="0">
                <a:solidFill>
                  <a:srgbClr val="52645F"/>
                </a:solidFill>
                <a:latin typeface="Arial"/>
                <a:ea typeface="Arial"/>
                <a:cs typeface="Arial"/>
              </a:rPr>
              <a:t>An introduction to Hedron 1.1.1</a:t>
            </a:r>
          </a:p>
        </p:txBody>
      </p:sp>
    </p:spTree>
    <p:extLst>
      <p:ext uri="{BB962C8B-B14F-4D97-AF65-F5344CB8AC3E}">
        <p14:creationId xmlns:p14="http://schemas.microsoft.com/office/powerpoint/2010/main" val="905986701"/>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9" name="title-2">
            <a:extLst xmlns:a="http://schemas.openxmlformats.org/drawingml/2006/main">
              <a:ext uri="{FF2B5EF4-FFF2-40B4-BE49-F238E27FC236}">
                <a16:creationId xmlns:a16="http://schemas.microsoft.com/office/drawing/2014/main" id="{DE364C08-EFA2-4BCC-A79B-56463BCE6A61}"/>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What Hedron adds to FastAPI</a:t>
            </a:r>
          </a:p>
        </p:txBody>
      </p:sp>
      <p:sp>
        <p:nvSpPr>
          <p:cNvPr id="2" name="page-2">
            <a:extLst xmlns:a="http://schemas.openxmlformats.org/drawingml/2006/main">
              <a:ext uri="{FF2B5EF4-FFF2-40B4-BE49-F238E27FC236}">
                <a16:creationId xmlns:a16="http://schemas.microsoft.com/office/drawing/2014/main" id="{011ECE45-1D45-429F-9110-595BF02816F2}"/>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02</a:t>
            </a:r>
          </a:p>
        </p:txBody>
      </p:sp>
      <p:sp>
        <p:nvSpPr>
          <p:cNvPr id="3" name="definition">
            <a:extLst xmlns:a="http://schemas.openxmlformats.org/drawingml/2006/main">
              <a:ext uri="{FF2B5EF4-FFF2-40B4-BE49-F238E27FC236}">
                <a16:creationId xmlns:a16="http://schemas.microsoft.com/office/drawing/2014/main" id="{F2C01F43-9013-4B39-95F6-072271DDFCAD}"/>
              </a:ext>
            </a:extLst>
          </p:cNvPr>
          <p:cNvSpPr>
            <a:spLocks xmlns:a="http://schemas.openxmlformats.org/drawingml/2006/main" noGrp="1"/>
          </p:cNvSpPr>
          <p:nvPr/>
        </p:nvSpPr>
        <p:spPr>
          <a:xfrm xmlns:a="http://schemas.openxmlformats.org/drawingml/2006/main">
            <a:off x="723900" y="1543050"/>
            <a:ext cx="10382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75" b="0">
                <a:solidFill>
                  <a:srgbClr val="17645E"/>
                </a:solidFill>
                <a:latin typeface="Georgia"/>
                <a:ea typeface="Georgia"/>
                <a:cs typeface="Georgia"/>
              </a:defRPr>
            </a:pPr>
            <a:r>
              <a:rPr sz="3675" b="0">
                <a:solidFill>
                  <a:srgbClr val="17645E"/>
                </a:solidFill>
                <a:latin typeface="Georgia"/>
                <a:ea typeface="Georgia"/>
                <a:cs typeface="Georgia"/>
              </a:rPr>
              <a:t>Python components that render</a:t>
            </a:r>
          </a:p>
          <a:p xmlns:a="http://schemas.openxmlformats.org/drawingml/2006/main">
            <a:pPr>
              <a:lnSpc>
                <a:spcPct val="115000"/>
              </a:lnSpc>
              <a:buNone/>
              <a:defRPr sz="3675" b="0">
                <a:solidFill>
                  <a:srgbClr val="17645E"/>
                </a:solidFill>
                <a:latin typeface="Georgia"/>
                <a:ea typeface="Georgia"/>
                <a:cs typeface="Georgia"/>
              </a:defRPr>
            </a:pPr>
            <a:r>
              <a:rPr sz="3675" b="0">
                <a:solidFill>
                  <a:srgbClr val="17645E"/>
                </a:solidFill>
                <a:latin typeface="Georgia"/>
                <a:ea typeface="Georgia"/>
                <a:cs typeface="Georgia"/>
              </a:rPr>
              <a:t>HTML on the server</a:t>
            </a:r>
          </a:p>
        </p:txBody>
      </p:sp>
      <p:sp>
        <p:nvSpPr>
          <p:cNvPr id="4" name="python-heading">
            <a:extLst xmlns:a="http://schemas.openxmlformats.org/drawingml/2006/main">
              <a:ext uri="{FF2B5EF4-FFF2-40B4-BE49-F238E27FC236}">
                <a16:creationId xmlns:a16="http://schemas.microsoft.com/office/drawing/2014/main" id="{6D38EA69-4893-4DB3-AD45-F8604D140B85}"/>
              </a:ext>
            </a:extLst>
          </p:cNvPr>
          <p:cNvSpPr>
            <a:spLocks xmlns:a="http://schemas.openxmlformats.org/drawingml/2006/main" noGrp="1"/>
          </p:cNvSpPr>
          <p:nvPr/>
        </p:nvSpPr>
        <p:spPr>
          <a:xfrm xmlns:a="http://schemas.openxmlformats.org/drawingml/2006/main">
            <a:off x="742950" y="3505200"/>
            <a:ext cx="4819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93A37"/>
                </a:solidFill>
                <a:latin typeface="Arial"/>
                <a:ea typeface="Arial"/>
                <a:cs typeface="Arial"/>
              </a:defRPr>
            </a:pPr>
            <a:r>
              <a:rPr sz="2250" b="1">
                <a:solidFill>
                  <a:srgbClr val="193A37"/>
                </a:solidFill>
                <a:latin typeface="Arial"/>
                <a:ea typeface="Arial"/>
                <a:cs typeface="Arial"/>
              </a:rPr>
              <a:t>UI in Python</a:t>
            </a:r>
          </a:p>
        </p:txBody>
      </p:sp>
      <p:sp>
        <p:nvSpPr>
          <p:cNvPr id="5" name="python-body">
            <a:extLst xmlns:a="http://schemas.openxmlformats.org/drawingml/2006/main">
              <a:ext uri="{FF2B5EF4-FFF2-40B4-BE49-F238E27FC236}">
                <a16:creationId xmlns:a16="http://schemas.microsoft.com/office/drawing/2014/main" id="{58C6E218-D496-4E7C-8179-E1F60F363621}"/>
              </a:ext>
            </a:extLst>
          </p:cNvPr>
          <p:cNvSpPr>
            <a:spLocks xmlns:a="http://schemas.openxmlformats.org/drawingml/2006/main" noGrp="1"/>
          </p:cNvSpPr>
          <p:nvPr/>
        </p:nvSpPr>
        <p:spPr>
          <a:xfrm xmlns:a="http://schemas.openxmlformats.org/drawingml/2006/main">
            <a:off x="742950" y="4114800"/>
            <a:ext cx="48958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Compose pages, forms and tables</a:t>
            </a:r>
          </a:p>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without a separate frontend app.</a:t>
            </a:r>
          </a:p>
        </p:txBody>
      </p:sp>
      <p:sp>
        <p:nvSpPr>
          <p:cNvPr id="6" name="fastapi-heading">
            <a:extLst xmlns:a="http://schemas.openxmlformats.org/drawingml/2006/main">
              <a:ext uri="{FF2B5EF4-FFF2-40B4-BE49-F238E27FC236}">
                <a16:creationId xmlns:a16="http://schemas.microsoft.com/office/drawing/2014/main" id="{EF634F77-ACC1-46E1-BC10-92646F79CAA9}"/>
              </a:ext>
            </a:extLst>
          </p:cNvPr>
          <p:cNvSpPr>
            <a:spLocks xmlns:a="http://schemas.openxmlformats.org/drawingml/2006/main" noGrp="1"/>
          </p:cNvSpPr>
          <p:nvPr/>
        </p:nvSpPr>
        <p:spPr>
          <a:xfrm xmlns:a="http://schemas.openxmlformats.org/drawingml/2006/main">
            <a:off x="6362700" y="35052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93A37"/>
                </a:solidFill>
                <a:latin typeface="Arial"/>
                <a:ea typeface="Arial"/>
                <a:cs typeface="Arial"/>
              </a:defRPr>
            </a:pPr>
            <a:r>
              <a:rPr sz="2250" b="1">
                <a:solidFill>
                  <a:srgbClr val="193A37"/>
                </a:solidFill>
                <a:latin typeface="Arial"/>
                <a:ea typeface="Arial"/>
                <a:cs typeface="Arial"/>
              </a:rPr>
              <a:t>FastAPI underneath</a:t>
            </a:r>
          </a:p>
        </p:txBody>
      </p:sp>
      <p:sp>
        <p:nvSpPr>
          <p:cNvPr id="7" name="fastapi-body">
            <a:extLst xmlns:a="http://schemas.openxmlformats.org/drawingml/2006/main">
              <a:ext uri="{FF2B5EF4-FFF2-40B4-BE49-F238E27FC236}">
                <a16:creationId xmlns:a16="http://schemas.microsoft.com/office/drawing/2014/main" id="{CFD8A612-0118-4295-AEC0-3D6E08C94666}"/>
              </a:ext>
            </a:extLst>
          </p:cNvPr>
          <p:cNvSpPr>
            <a:spLocks xmlns:a="http://schemas.openxmlformats.org/drawingml/2006/main" noGrp="1"/>
          </p:cNvSpPr>
          <p:nvPr/>
        </p:nvSpPr>
        <p:spPr>
          <a:xfrm xmlns:a="http://schemas.openxmlformats.org/drawingml/2006/main">
            <a:off x="6362700" y="411480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Keep validation, dependencies,</a:t>
            </a:r>
          </a:p>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middleware and JSON endpoints.</a:t>
            </a:r>
          </a:p>
        </p:txBody>
      </p:sp>
      <p:sp>
        <p:nvSpPr>
          <p:cNvPr id="8" name="definition-close">
            <a:extLst xmlns:a="http://schemas.openxmlformats.org/drawingml/2006/main">
              <a:ext uri="{FF2B5EF4-FFF2-40B4-BE49-F238E27FC236}">
                <a16:creationId xmlns:a16="http://schemas.microsoft.com/office/drawing/2014/main" id="{6CB896C7-D73F-4395-99C8-D29641BD2ABC}"/>
              </a:ext>
            </a:extLst>
          </p:cNvPr>
          <p:cNvSpPr>
            <a:spLocks xmlns:a="http://schemas.openxmlformats.org/drawingml/2006/main" noGrp="1"/>
          </p:cNvSpPr>
          <p:nvPr/>
        </p:nvSpPr>
        <p:spPr>
          <a:xfrm xmlns:a="http://schemas.openxmlformats.org/drawingml/2006/main">
            <a:off x="742950" y="58293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52645F"/>
                </a:solidFill>
                <a:latin typeface="Arial"/>
                <a:ea typeface="Arial"/>
                <a:cs typeface="Arial"/>
              </a:defRPr>
            </a:pPr>
            <a:r>
              <a:rPr sz="1950" b="0">
                <a:solidFill>
                  <a:srgbClr val="52645F"/>
                </a:solidFill>
                <a:latin typeface="Arial"/>
                <a:ea typeface="Arial"/>
                <a:cs typeface="Arial"/>
              </a:rPr>
              <a:t>Pages, views and actions give each request a clear job.</a:t>
            </a:r>
          </a:p>
        </p:txBody>
      </p:sp>
    </p:spTree>
    <p:extLst>
      <p:ext uri="{BB962C8B-B14F-4D97-AF65-F5344CB8AC3E}">
        <p14:creationId xmlns:p14="http://schemas.microsoft.com/office/powerpoint/2010/main" val="1606432008"/>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7ACA7F64-BBF1-4215-B21E-CC04ECE13293}"/>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A working Hedron interface</a:t>
            </a:r>
          </a:p>
        </p:txBody>
      </p:sp>
      <p:sp>
        <p:nvSpPr>
          <p:cNvPr id="2" name="page-3">
            <a:extLst xmlns:a="http://schemas.openxmlformats.org/drawingml/2006/main">
              <a:ext uri="{FF2B5EF4-FFF2-40B4-BE49-F238E27FC236}">
                <a16:creationId xmlns:a16="http://schemas.microsoft.com/office/drawing/2014/main" id="{B0F8979D-801C-4977-ACBE-25B75569CCAF}"/>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ba7df9be5c14cd1"/>
          <a:stretch xmlns:a="http://schemas.openxmlformats.org/drawingml/2006/main"/>
        </p:blipFill>
        <p:spPr>
          <a:xfrm xmlns:a="http://schemas.openxmlformats.org/drawingml/2006/main">
            <a:off x="689011" y="1466850"/>
            <a:ext cx="7842178" cy="4781550"/>
          </a:xfrm>
          <a:prstGeom xmlns:a="http://schemas.openxmlformats.org/drawingml/2006/main" prst="rect">
            <a:avLst/>
          </a:prstGeom>
        </p:spPr>
      </p:pic>
      <p:sp>
        <p:nvSpPr>
          <p:cNvPr id="4" name="showcase-layout-heading">
            <a:extLst xmlns:a="http://schemas.openxmlformats.org/drawingml/2006/main">
              <a:ext uri="{FF2B5EF4-FFF2-40B4-BE49-F238E27FC236}">
                <a16:creationId xmlns:a16="http://schemas.microsoft.com/office/drawing/2014/main" id="{DCE1D2BF-0128-486D-9A04-64A01795352D}"/>
              </a:ext>
            </a:extLst>
          </p:cNvPr>
          <p:cNvSpPr>
            <a:spLocks xmlns:a="http://schemas.openxmlformats.org/drawingml/2006/main" noGrp="1"/>
          </p:cNvSpPr>
          <p:nvPr/>
        </p:nvSpPr>
        <p:spPr>
          <a:xfrm xmlns:a="http://schemas.openxmlformats.org/drawingml/2006/main">
            <a:off x="8915400" y="18764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7645E"/>
                </a:solidFill>
                <a:latin typeface="Arial"/>
                <a:ea typeface="Arial"/>
                <a:cs typeface="Arial"/>
              </a:defRPr>
            </a:pPr>
            <a:r>
              <a:rPr sz="2250" b="1">
                <a:solidFill>
                  <a:srgbClr val="17645E"/>
                </a:solidFill>
                <a:latin typeface="Arial"/>
                <a:ea typeface="Arial"/>
                <a:cs typeface="Arial"/>
              </a:rPr>
              <a:t>App layout</a:t>
            </a:r>
          </a:p>
        </p:txBody>
      </p:sp>
      <p:sp>
        <p:nvSpPr>
          <p:cNvPr id="5" name="showcase-layout-body">
            <a:extLst xmlns:a="http://schemas.openxmlformats.org/drawingml/2006/main">
              <a:ext uri="{FF2B5EF4-FFF2-40B4-BE49-F238E27FC236}">
                <a16:creationId xmlns:a16="http://schemas.microsoft.com/office/drawing/2014/main" id="{F836EDEE-4682-4196-A368-98CCEB327B35}"/>
              </a:ext>
            </a:extLst>
          </p:cNvPr>
          <p:cNvSpPr>
            <a:spLocks xmlns:a="http://schemas.openxmlformats.org/drawingml/2006/main" noGrp="1"/>
          </p:cNvSpPr>
          <p:nvPr/>
        </p:nvSpPr>
        <p:spPr>
          <a:xfrm xmlns:a="http://schemas.openxmlformats.org/drawingml/2006/main">
            <a:off x="8915400" y="2409825"/>
            <a:ext cx="2619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Navigation and a</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consistent page shell</a:t>
            </a:r>
          </a:p>
        </p:txBody>
      </p:sp>
      <p:sp>
        <p:nvSpPr>
          <p:cNvPr id="6" name="showcase-data-heading">
            <a:extLst xmlns:a="http://schemas.openxmlformats.org/drawingml/2006/main">
              <a:ext uri="{FF2B5EF4-FFF2-40B4-BE49-F238E27FC236}">
                <a16:creationId xmlns:a16="http://schemas.microsoft.com/office/drawing/2014/main" id="{E0100989-CE2B-4FFB-BA0C-DCE378C347B1}"/>
              </a:ext>
            </a:extLst>
          </p:cNvPr>
          <p:cNvSpPr>
            <a:spLocks xmlns:a="http://schemas.openxmlformats.org/drawingml/2006/main" noGrp="1"/>
          </p:cNvSpPr>
          <p:nvPr/>
        </p:nvSpPr>
        <p:spPr>
          <a:xfrm xmlns:a="http://schemas.openxmlformats.org/drawingml/2006/main">
            <a:off x="8915400" y="3819525"/>
            <a:ext cx="2705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7645E"/>
                </a:solidFill>
                <a:latin typeface="Arial"/>
                <a:ea typeface="Arial"/>
                <a:cs typeface="Arial"/>
              </a:defRPr>
            </a:pPr>
            <a:r>
              <a:rPr sz="2250" b="1">
                <a:solidFill>
                  <a:srgbClr val="17645E"/>
                </a:solidFill>
                <a:latin typeface="Arial"/>
                <a:ea typeface="Arial"/>
                <a:cs typeface="Arial"/>
              </a:rPr>
              <a:t>Data and workflows</a:t>
            </a:r>
          </a:p>
        </p:txBody>
      </p:sp>
      <p:sp>
        <p:nvSpPr>
          <p:cNvPr id="7" name="showcase-data-body">
            <a:extLst xmlns:a="http://schemas.openxmlformats.org/drawingml/2006/main">
              <a:ext uri="{FF2B5EF4-FFF2-40B4-BE49-F238E27FC236}">
                <a16:creationId xmlns:a16="http://schemas.microsoft.com/office/drawing/2014/main" id="{152FF716-FB82-4313-A306-ED545279C7B5}"/>
              </a:ext>
            </a:extLst>
          </p:cNvPr>
          <p:cNvSpPr>
            <a:spLocks xmlns:a="http://schemas.openxmlformats.org/drawingml/2006/main" noGrp="1"/>
          </p:cNvSpPr>
          <p:nvPr/>
        </p:nvSpPr>
        <p:spPr>
          <a:xfrm xmlns:a="http://schemas.openxmlformats.org/drawingml/2006/main">
            <a:off x="8915400" y="46767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Metrics, progress and</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actions in one screen</a:t>
            </a:r>
          </a:p>
        </p:txBody>
      </p:sp>
      <p:sp>
        <p:nvSpPr>
          <p:cNvPr id="8" name="showcase-caption">
            <a:extLst xmlns:a="http://schemas.openxmlformats.org/drawingml/2006/main">
              <a:ext uri="{FF2B5EF4-FFF2-40B4-BE49-F238E27FC236}">
                <a16:creationId xmlns:a16="http://schemas.microsoft.com/office/drawing/2014/main" id="{D1C4F007-891A-4D13-B2EF-900F0E34AEB7}"/>
              </a:ext>
            </a:extLst>
          </p:cNvPr>
          <p:cNvSpPr>
            <a:spLocks xmlns:a="http://schemas.openxmlformats.org/drawingml/2006/main" noGrp="1"/>
          </p:cNvSpPr>
          <p:nvPr/>
        </p:nvSpPr>
        <p:spPr>
          <a:xfrm xmlns:a="http://schemas.openxmlformats.org/drawingml/2006/main">
            <a:off x="723900" y="6419850"/>
            <a:ext cx="695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350" b="0">
                <a:solidFill>
                  <a:srgbClr val="52645F"/>
                </a:solidFill>
                <a:latin typeface="Arial"/>
                <a:ea typeface="Arial"/>
                <a:cs typeface="Arial"/>
              </a:defRPr>
            </a:pPr>
            <a:r>
              <a:rPr sz="1350" b="0">
                <a:solidFill>
                  <a:srgbClr val="52645F"/>
                </a:solidFill>
                <a:latin typeface="Arial"/>
                <a:ea typeface="Arial"/>
                <a:cs typeface="Arial"/>
              </a:rPr>
              <a:t>Hedron Showcase with demo data</a:t>
            </a:r>
          </a:p>
        </p:txBody>
      </p:sp>
    </p:spTree>
    <p:extLst>
      <p:ext uri="{BB962C8B-B14F-4D97-AF65-F5344CB8AC3E}">
        <p14:creationId xmlns:p14="http://schemas.microsoft.com/office/powerpoint/2010/main" val="176787910"/>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title-4">
            <a:extLst xmlns:a="http://schemas.openxmlformats.org/drawingml/2006/main">
              <a:ext uri="{FF2B5EF4-FFF2-40B4-BE49-F238E27FC236}">
                <a16:creationId xmlns:a16="http://schemas.microsoft.com/office/drawing/2014/main" id="{1F4459CE-3FC6-4376-9BF9-A9A30B25C8D9}"/>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Pages, views and actions</a:t>
            </a:r>
          </a:p>
        </p:txBody>
      </p:sp>
      <p:sp>
        <p:nvSpPr>
          <p:cNvPr id="2" name="page-4">
            <a:extLst xmlns:a="http://schemas.openxmlformats.org/drawingml/2006/main">
              <a:ext uri="{FF2B5EF4-FFF2-40B4-BE49-F238E27FC236}">
                <a16:creationId xmlns:a16="http://schemas.microsoft.com/office/drawing/2014/main" id="{8631B2B9-C409-4453-8C64-0AF76BAC1D81}"/>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04</a:t>
            </a:r>
          </a:p>
        </p:txBody>
      </p:sp>
      <p:sp>
        <p:nvSpPr>
          <p:cNvPr id="3" name="roles-intro">
            <a:extLst xmlns:a="http://schemas.openxmlformats.org/drawingml/2006/main">
              <a:ext uri="{FF2B5EF4-FFF2-40B4-BE49-F238E27FC236}">
                <a16:creationId xmlns:a16="http://schemas.microsoft.com/office/drawing/2014/main" id="{5F9BFE10-A789-479A-A1D5-FFE2571ADC65}"/>
              </a:ext>
            </a:extLst>
          </p:cNvPr>
          <p:cNvSpPr>
            <a:spLocks xmlns:a="http://schemas.openxmlformats.org/drawingml/2006/main" noGrp="1"/>
          </p:cNvSpPr>
          <p:nvPr/>
        </p:nvSpPr>
        <p:spPr>
          <a:xfrm xmlns:a="http://schemas.openxmlformats.org/drawingml/2006/main">
            <a:off x="723900" y="13239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0">
                <a:solidFill>
                  <a:srgbClr val="17645E"/>
                </a:solidFill>
                <a:latin typeface="Arial"/>
                <a:ea typeface="Arial"/>
                <a:cs typeface="Arial"/>
              </a:defRPr>
            </a:pPr>
            <a:r>
              <a:rPr sz="2175" b="0">
                <a:solidFill>
                  <a:srgbClr val="17645E"/>
                </a:solidFill>
                <a:latin typeface="Arial"/>
                <a:ea typeface="Arial"/>
                <a:cs typeface="Arial"/>
              </a:rPr>
              <a:t>Each route has an explicit purpose</a:t>
            </a:r>
          </a:p>
        </p:txBody>
      </p:sp>
      <p:graphicFrame>
        <p:nvGraphicFramePr>
          <p:cNvPr id="9" name=""/>
          <p:cNvGraphicFramePr/>
          <p:nvPr/>
        </p:nvGraphicFramePr>
        <p:xfrm>
          <a:off xmlns:a="http://schemas.openxmlformats.org/drawingml/2006/main" x="685800" y="2009775"/>
          <a:ext xmlns:a="http://schemas.openxmlformats.org/drawingml/2006/main" cx="10820400" cy="3333750"/>
        </p:xfrm>
        <a:graphic xmlns:a="http://schemas.openxmlformats.org/drawingml/2006/main">
          <a:graphicData uri="http://schemas.openxmlformats.org/drawingml/2006/table">
            <a:tbl>
              <a:tblPr firstRow="0" firstCol="0" bandRow="0"/>
              <a:tblGrid>
                <a:gridCol w="1714500"/>
                <a:gridCol w="4705350"/>
                <a:gridCol w="4400550"/>
              </a:tblGrid>
              <a:tr h="590550">
                <a:tc>
                  <a:txBody>
                    <a:bodyPr/>
                    <a:lstStyle/>
                    <a:p>
                      <a:r>
                        <a:rPr sz="1950" b="1">
                          <a:solidFill>
                            <a:srgbClr val="17645E"/>
                          </a:solidFill>
                          <a:latin typeface="Arial"/>
                          <a:ea typeface="Arial"/>
                          <a:cs typeface="Arial"/>
                        </a:rPr>
                        <a:t>Role</a:t>
                      </a:r>
                    </a:p>
                  </a:txBody>
                  <a:tcPr marL="133350" marR="209550" marT="152400" marB="133350" anchor="ctr">
                    <a:lnL w="0">
                      <a:solidFill>
                        <a:srgbClr val="CCD7D1"/>
                      </a:solidFill>
                    </a:lnL>
                    <a:lnT w="0">
                      <a:solidFill>
                        <a:srgbClr val="CCD7D1"/>
                      </a:solidFill>
                    </a:lnT>
                    <a:solidFill>
                      <a:srgbClr val="E7F1EE"/>
                    </a:solidFill>
                  </a:tcPr>
                </a:tc>
                <a:tc>
                  <a:txBody>
                    <a:bodyPr/>
                    <a:lstStyle/>
                    <a:p>
                      <a:r>
                        <a:rPr sz="1950" b="1">
                          <a:solidFill>
                            <a:srgbClr val="17645E"/>
                          </a:solidFill>
                          <a:latin typeface="Arial"/>
                          <a:ea typeface="Arial"/>
                          <a:cs typeface="Arial"/>
                        </a:rPr>
                        <a:t>Purpose</a:t>
                      </a:r>
                    </a:p>
                  </a:txBody>
                  <a:tcPr marL="133350" marR="209550" marT="152400" marB="133350" anchor="ctr">
                    <a:lnT w="0">
                      <a:solidFill>
                        <a:srgbClr val="CCD7D1"/>
                      </a:solidFill>
                    </a:lnT>
                    <a:solidFill>
                      <a:srgbClr val="E7F1EE"/>
                    </a:solidFill>
                  </a:tcPr>
                </a:tc>
                <a:tc>
                  <a:txBody>
                    <a:bodyPr/>
                    <a:lstStyle/>
                    <a:p>
                      <a:r>
                        <a:rPr sz="1950" b="1">
                          <a:solidFill>
                            <a:srgbClr val="17645E"/>
                          </a:solidFill>
                          <a:latin typeface="Arial"/>
                          <a:ea typeface="Arial"/>
                          <a:cs typeface="Arial"/>
                        </a:rPr>
                        <a:t>Typical result</a:t>
                      </a:r>
                    </a:p>
                  </a:txBody>
                  <a:tcPr marL="133350" marR="209550" marT="152400" marB="133350" anchor="ctr">
                    <a:lnR w="0">
                      <a:solidFill>
                        <a:srgbClr val="CCD7D1"/>
                      </a:solidFill>
                    </a:lnR>
                    <a:lnT w="0">
                      <a:solidFill>
                        <a:srgbClr val="CCD7D1"/>
                      </a:solidFill>
                    </a:lnT>
                    <a:solidFill>
                      <a:srgbClr val="E7F1EE"/>
                    </a:solidFill>
                  </a:tcPr>
                </a:tc>
              </a:tr>
              <a:tr h="914400">
                <a:tc>
                  <a:txBody>
                    <a:bodyPr/>
                    <a:lstStyle/>
                    <a:p>
                      <a:r>
                        <a:rPr sz="1950">
                          <a:solidFill>
                            <a:srgbClr val="193A37"/>
                          </a:solidFill>
                          <a:latin typeface="Arial"/>
                          <a:ea typeface="Arial"/>
                          <a:cs typeface="Arial"/>
                        </a:rPr>
                        <a:t>Page</a:t>
                      </a:r>
                    </a:p>
                  </a:txBody>
                  <a:tcPr marL="133350" marR="209550" marT="171450" marB="133350" anchor="ctr">
                    <a:lnL w="0">
                      <a:solidFill>
                        <a:srgbClr val="CCD7D1"/>
                      </a:solidFill>
                    </a:lnL>
                    <a:solidFill>
                      <a:srgbClr val="F8F7F2"/>
                    </a:solidFill>
                  </a:tcPr>
                </a:tc>
                <a:tc>
                  <a:txBody>
                    <a:bodyPr/>
                    <a:lstStyle/>
                    <a:p>
                      <a:r>
                        <a:rPr sz="1950">
                          <a:solidFill>
                            <a:srgbClr val="193A37"/>
                          </a:solidFill>
                          <a:latin typeface="Arial"/>
                          <a:ea typeface="Arial"/>
                          <a:cs typeface="Arial"/>
                        </a:rPr>
                        <a:t>Open a navigable screen</a:t>
                      </a:r>
                    </a:p>
                  </a:txBody>
                  <a:tcPr marL="133350" marR="209550" marT="171450" marB="133350" anchor="ctr">
                    <a:solidFill>
                      <a:srgbClr val="F8F7F2"/>
                    </a:solidFill>
                  </a:tcPr>
                </a:tc>
                <a:tc>
                  <a:txBody>
                    <a:bodyPr/>
                    <a:lstStyle/>
                    <a:p>
                      <a:r>
                        <a:rPr sz="1950">
                          <a:solidFill>
                            <a:srgbClr val="193A37"/>
                          </a:solidFill>
                          <a:latin typeface="Arial"/>
                          <a:ea typeface="Arial"/>
                          <a:cs typeface="Arial"/>
                        </a:rPr>
                        <a:t>Full HTML page</a:t>
                      </a:r>
                    </a:p>
                  </a:txBody>
                  <a:tcPr marL="133350" marR="209550" marT="171450" marB="133350" anchor="ctr">
                    <a:lnR w="0">
                      <a:solidFill>
                        <a:srgbClr val="CCD7D1"/>
                      </a:solidFill>
                    </a:lnR>
                    <a:solidFill>
                      <a:srgbClr val="F8F7F2"/>
                    </a:solidFill>
                  </a:tcPr>
                </a:tc>
              </a:tr>
              <a:tr h="914400">
                <a:tc>
                  <a:txBody>
                    <a:bodyPr/>
                    <a:lstStyle/>
                    <a:p>
                      <a:r>
                        <a:rPr sz="1950">
                          <a:solidFill>
                            <a:srgbClr val="193A37"/>
                          </a:solidFill>
                          <a:latin typeface="Arial"/>
                          <a:ea typeface="Arial"/>
                          <a:cs typeface="Arial"/>
                        </a:rPr>
                        <a:t>View</a:t>
                      </a:r>
                    </a:p>
                  </a:txBody>
                  <a:tcPr marL="133350" marR="209550" marT="171450" marB="133350" anchor="ctr">
                    <a:lnL w="0">
                      <a:solidFill>
                        <a:srgbClr val="CCD7D1"/>
                      </a:solidFill>
                    </a:lnL>
                    <a:solidFill>
                      <a:srgbClr val="F8F7F2"/>
                    </a:solidFill>
                  </a:tcPr>
                </a:tc>
                <a:tc>
                  <a:txBody>
                    <a:bodyPr/>
                    <a:lstStyle/>
                    <a:p>
                      <a:r>
                        <a:rPr sz="1950">
                          <a:solidFill>
                            <a:srgbClr val="193A37"/>
                          </a:solidFill>
                          <a:latin typeface="Arial"/>
                          <a:ea typeface="Arial"/>
                          <a:cs typeface="Arial"/>
                        </a:rPr>
                        <a:t>Refresh a declared region</a:t>
                      </a:r>
                    </a:p>
                  </a:txBody>
                  <a:tcPr marL="133350" marR="209550" marT="171450" marB="133350" anchor="ctr">
                    <a:solidFill>
                      <a:srgbClr val="F8F7F2"/>
                    </a:solidFill>
                  </a:tcPr>
                </a:tc>
                <a:tc>
                  <a:txBody>
                    <a:bodyPr/>
                    <a:lstStyle/>
                    <a:p>
                      <a:r>
                        <a:rPr sz="1950">
                          <a:solidFill>
                            <a:srgbClr val="193A37"/>
                          </a:solidFill>
                          <a:latin typeface="Arial"/>
                          <a:ea typeface="Arial"/>
                          <a:cs typeface="Arial"/>
                        </a:rPr>
                        <a:t>HTML fragment</a:t>
                      </a:r>
                    </a:p>
                  </a:txBody>
                  <a:tcPr marL="133350" marR="209550" marT="171450" marB="133350" anchor="ctr">
                    <a:lnR w="0">
                      <a:solidFill>
                        <a:srgbClr val="CCD7D1"/>
                      </a:solidFill>
                    </a:lnR>
                    <a:solidFill>
                      <a:srgbClr val="F8F7F2"/>
                    </a:solidFill>
                  </a:tcPr>
                </a:tc>
              </a:tr>
              <a:tr h="914400">
                <a:tc>
                  <a:txBody>
                    <a:bodyPr/>
                    <a:lstStyle/>
                    <a:p>
                      <a:r>
                        <a:rPr sz="1950">
                          <a:solidFill>
                            <a:srgbClr val="193A37"/>
                          </a:solidFill>
                          <a:latin typeface="Arial"/>
                          <a:ea typeface="Arial"/>
                          <a:cs typeface="Arial"/>
                        </a:rPr>
                        <a:t>Action</a:t>
                      </a:r>
                    </a:p>
                  </a:txBody>
                  <a:tcPr marL="133350" marR="209550" marT="171450" marB="133350" anchor="ctr">
                    <a:lnL w="0">
                      <a:solidFill>
                        <a:srgbClr val="CCD7D1"/>
                      </a:solidFill>
                    </a:lnL>
                    <a:lnB w="9525">
                      <a:solidFill>
                        <a:srgbClr val="CCD7D1"/>
                      </a:solidFill>
                    </a:lnB>
                    <a:solidFill>
                      <a:srgbClr val="F8F7F2"/>
                    </a:solidFill>
                  </a:tcPr>
                </a:tc>
                <a:tc>
                  <a:txBody>
                    <a:bodyPr/>
                    <a:lstStyle/>
                    <a:p>
                      <a:r>
                        <a:rPr sz="1950">
                          <a:solidFill>
                            <a:srgbClr val="193A37"/>
                          </a:solidFill>
                          <a:latin typeface="Arial"/>
                          <a:ea typeface="Arial"/>
                          <a:cs typeface="Arial"/>
                        </a:rPr>
                        <a:t>Validate and perform a write</a:t>
                      </a:r>
                    </a:p>
                  </a:txBody>
                  <a:tcPr marL="133350" marR="209550" marT="171450" marB="133350" anchor="ctr">
                    <a:lnB w="9525">
                      <a:solidFill>
                        <a:srgbClr val="CCD7D1"/>
                      </a:solidFill>
                    </a:lnB>
                    <a:solidFill>
                      <a:srgbClr val="F8F7F2"/>
                    </a:solidFill>
                  </a:tcPr>
                </a:tc>
                <a:tc>
                  <a:txBody>
                    <a:bodyPr/>
                    <a:lstStyle/>
                    <a:p>
                      <a:r>
                        <a:rPr sz="1950">
                          <a:solidFill>
                            <a:srgbClr val="193A37"/>
                          </a:solidFill>
                          <a:latin typeface="Arial"/>
                          <a:ea typeface="Arial"/>
                          <a:cs typeface="Arial"/>
                        </a:rPr>
                        <a:t>Refresh, redirect or errors</a:t>
                      </a:r>
                    </a:p>
                  </a:txBody>
                  <a:tcPr marL="133350" marR="209550" marT="171450" marB="133350" anchor="ctr">
                    <a:lnR w="0">
                      <a:solidFill>
                        <a:srgbClr val="CCD7D1"/>
                      </a:solidFill>
                    </a:lnR>
                    <a:lnB w="9525">
                      <a:solidFill>
                        <a:srgbClr val="CCD7D1"/>
                      </a:solidFill>
                    </a:lnB>
                    <a:solidFill>
                      <a:srgbClr val="F8F7F2"/>
                    </a:solidFill>
                  </a:tcPr>
                </a:tc>
              </a:tr>
            </a:tbl>
          </a:graphicData>
        </a:graphic>
      </p:graphicFrame>
      <p:sp>
        <p:nvSpPr>
          <p:cNvPr id="5" name="roles-browser">
            <a:extLst xmlns:a="http://schemas.openxmlformats.org/drawingml/2006/main">
              <a:ext uri="{FF2B5EF4-FFF2-40B4-BE49-F238E27FC236}">
                <a16:creationId xmlns:a16="http://schemas.microsoft.com/office/drawing/2014/main" id="{2B198467-2D9D-49BE-9B40-C7C3433B866B}"/>
              </a:ext>
            </a:extLst>
          </p:cNvPr>
          <p:cNvSpPr>
            <a:spLocks xmlns:a="http://schemas.openxmlformats.org/drawingml/2006/main" noGrp="1"/>
          </p:cNvSpPr>
          <p:nvPr/>
        </p:nvSpPr>
        <p:spPr>
          <a:xfrm xmlns:a="http://schemas.openxmlformats.org/drawingml/2006/main">
            <a:off x="723900" y="58197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800" b="0">
                <a:solidFill>
                  <a:srgbClr val="52645F"/>
                </a:solidFill>
                <a:latin typeface="Arial"/>
                <a:ea typeface="Arial"/>
                <a:cs typeface="Arial"/>
              </a:defRPr>
            </a:pPr>
            <a:r>
              <a:rPr sz="1800" b="0">
                <a:solidFill>
                  <a:srgbClr val="52645F"/>
                </a:solidFill>
                <a:latin typeface="Arial"/>
                <a:ea typeface="Arial"/>
                <a:cs typeface="Arial"/>
              </a:rPr>
              <a:t>HTMX sends server requests. Alpine handles local controls such as menus.</a:t>
            </a:r>
          </a:p>
        </p:txBody>
      </p:sp>
    </p:spTree>
    <p:extLst>
      <p:ext uri="{BB962C8B-B14F-4D97-AF65-F5344CB8AC3E}">
        <p14:creationId xmlns:p14="http://schemas.microsoft.com/office/powerpoint/2010/main" val="167105209"/>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5289C904-14B1-4CD7-8EED-2BC9BFAD4E3C}"/>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A page with a refreshable view</a:t>
            </a:r>
          </a:p>
        </p:txBody>
      </p:sp>
      <p:sp>
        <p:nvSpPr>
          <p:cNvPr id="2" name="page-5">
            <a:extLst xmlns:a="http://schemas.openxmlformats.org/drawingml/2006/main">
              <a:ext uri="{FF2B5EF4-FFF2-40B4-BE49-F238E27FC236}">
                <a16:creationId xmlns:a16="http://schemas.microsoft.com/office/drawing/2014/main" id="{92C401C8-5FA2-4962-937F-92CA7DD01AB3}"/>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05</a:t>
            </a:r>
          </a:p>
        </p:txBody>
      </p:sp>
      <p:sp>
        <p:nvSpPr>
          <p:cNvPr id="3" name="minimal-code">
            <a:extLst xmlns:a="http://schemas.openxmlformats.org/drawingml/2006/main">
              <a:ext uri="{FF2B5EF4-FFF2-40B4-BE49-F238E27FC236}">
                <a16:creationId xmlns:a16="http://schemas.microsoft.com/office/drawing/2014/main" id="{0BFD2243-15EF-40A7-84F1-AA217EF01624}"/>
              </a:ext>
            </a:extLst>
          </p:cNvPr>
          <p:cNvSpPr>
            <a:spLocks xmlns:a="http://schemas.openxmlformats.org/drawingml/2006/main" noGrp="1"/>
          </p:cNvSpPr>
          <p:nvPr/>
        </p:nvSpPr>
        <p:spPr>
          <a:xfrm xmlns:a="http://schemas.openxmlformats.org/drawingml/2006/main">
            <a:off x="685800" y="1447800"/>
            <a:ext cx="7105650" cy="4524375"/>
          </a:xfrm>
          <a:prstGeom xmlns:a="http://schemas.openxmlformats.org/drawingml/2006/main" prst="rect">
            <a:avLst/>
          </a:prstGeom>
          <a:solidFill xmlns:a="http://schemas.openxmlformats.org/drawingml/2006/main">
            <a:srgbClr val="F1F3F0"/>
          </a:solidFill>
          <a:ln xmlns:a="http://schemas.openxmlformats.org/drawingml/2006/main" w="0">
            <a:noFill/>
          </a:ln>
        </p:spPr>
        <p:txBody>
          <a:bodyPr xmlns:a="http://schemas.openxmlformats.org/drawingml/2006/main" wrap="square" lIns="219075" tIns="219075" rIns="219075" bIns="219075" anchor="t">
            <a:noAutofit/>
          </a:bodyPr>
          <a:lstStyle xmlns:a="http://schemas.openxmlformats.org/drawingml/2006/main"/>
          <a:p xmlns:a="http://schemas.openxmlformats.org/drawingml/2006/main">
            <a:pPr>
              <a:lnSpc>
                <a:spcPct val="115000"/>
              </a:lnSpc>
              <a:buNone/>
              <a:defRPr sz="1725" b="0">
                <a:solidFill>
                  <a:srgbClr val="253230"/>
                </a:solidFill>
                <a:latin typeface="Menlo"/>
                <a:ea typeface="Menlo"/>
                <a:cs typeface="Menlo"/>
              </a:defRPr>
            </a:pPr>
            <a:r>
              <a:rPr sz="1725" b="0">
                <a:solidFill>
                  <a:srgbClr val="17645E"/>
                </a:solidFill>
                <a:latin typeface="Menlo"/>
                <a:ea typeface="Menlo"/>
                <a:cs typeface="Menlo"/>
              </a:rPr>
              <a:t>from hedron import</a:t>
            </a:r>
            <a:r>
              <a:rPr sz="1725" b="0">
                <a:solidFill>
                  <a:srgbClr val="253230"/>
                </a:solidFill>
                <a:latin typeface="Menlo"/>
                <a:ea typeface="Menlo"/>
                <a:cs typeface="Menlo"/>
              </a:rPr>
              <a:t> Hedron, Stack, Text</a:t>
            </a:r>
          </a:p>
          <a:p xmlns:a="http://schemas.openxmlformats.org/drawingml/2006/main">
            <a:r>
              <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app = Hedron(title="Operations")</a:t>
            </a:r>
          </a:p>
          <a:p xmlns:a="http://schemas.openxmlformats.org/drawingml/2006/main">
            <a:r>
              <a:t/>
            </a:r>
          </a:p>
          <a:p xmlns:a="http://schemas.openxmlformats.org/drawingml/2006/main">
            <a:pPr>
              <a:lnSpc>
                <a:spcPct val="115000"/>
              </a:lnSpc>
              <a:buNone/>
              <a:defRPr sz="1725" b="0">
                <a:solidFill>
                  <a:srgbClr val="253230"/>
                </a:solidFill>
                <a:latin typeface="Menlo"/>
                <a:ea typeface="Menlo"/>
                <a:cs typeface="Menlo"/>
              </a:defRPr>
            </a:pPr>
            <a:r>
              <a:rPr sz="1725" b="0">
                <a:solidFill>
                  <a:srgbClr val="17645E"/>
                </a:solidFill>
                <a:latin typeface="Menlo"/>
                <a:ea typeface="Menlo"/>
                <a:cs typeface="Menlo"/>
              </a:rPr>
              <a:t>@app.view</a:t>
            </a:r>
            <a:r>
              <a:rPr sz="1725" b="0">
                <a:solidFill>
                  <a:srgbClr val="253230"/>
                </a:solidFill>
                <a:latin typeface="Menlo"/>
                <a:ea typeface="Menlo"/>
                <a:cs typeface="Menlo"/>
              </a:rPr>
              <a:t>("/status")</a:t>
            </a:r>
          </a:p>
          <a:p xmlns:a="http://schemas.openxmlformats.org/drawingml/2006/main">
            <a:pPr>
              <a:lnSpc>
                <a:spcPct val="115000"/>
              </a:lnSpc>
              <a:buNone/>
              <a:defRPr sz="1725" b="0">
                <a:solidFill>
                  <a:srgbClr val="253230"/>
                </a:solidFill>
                <a:latin typeface="Menlo"/>
                <a:ea typeface="Menlo"/>
                <a:cs typeface="Menlo"/>
              </a:defRPr>
            </a:pPr>
            <a:r>
              <a:rPr sz="1725" b="0">
                <a:solidFill>
                  <a:srgbClr val="17645E"/>
                </a:solidFill>
                <a:latin typeface="Menlo"/>
                <a:ea typeface="Menlo"/>
                <a:cs typeface="Menlo"/>
              </a:rPr>
              <a:t>def status</a:t>
            </a:r>
            <a:r>
              <a:rPr sz="1725" b="0">
                <a:solidFill>
                  <a:srgbClr val="253230"/>
                </a:solidFill>
                <a:latin typeface="Menlo"/>
                <a:ea typeface="Menlo"/>
                <a:cs typeface="Menlo"/>
              </a:rPr>
              <a:t>():</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    </a:t>
            </a:r>
            <a:r>
              <a:rPr sz="1725" b="0">
                <a:solidFill>
                  <a:srgbClr val="17645E"/>
                </a:solidFill>
                <a:latin typeface="Menlo"/>
                <a:ea typeface="Menlo"/>
                <a:cs typeface="Menlo"/>
              </a:rPr>
              <a:t>return</a:t>
            </a:r>
            <a:r>
              <a:rPr sz="1725" b="0">
                <a:solidFill>
                  <a:srgbClr val="253230"/>
                </a:solidFill>
                <a:latin typeface="Menlo"/>
                <a:ea typeface="Menlo"/>
                <a:cs typeface="Menlo"/>
              </a:rPr>
              <a:t> Text("All systems operational")</a:t>
            </a:r>
          </a:p>
          <a:p xmlns:a="http://schemas.openxmlformats.org/drawingml/2006/main">
            <a:r>
              <a:t/>
            </a:r>
          </a:p>
          <a:p xmlns:a="http://schemas.openxmlformats.org/drawingml/2006/main">
            <a:pPr>
              <a:lnSpc>
                <a:spcPct val="115000"/>
              </a:lnSpc>
              <a:buNone/>
              <a:defRPr sz="1725" b="0">
                <a:solidFill>
                  <a:srgbClr val="253230"/>
                </a:solidFill>
                <a:latin typeface="Menlo"/>
                <a:ea typeface="Menlo"/>
                <a:cs typeface="Menlo"/>
              </a:defRPr>
            </a:pPr>
            <a:r>
              <a:rPr sz="1725" b="0">
                <a:solidFill>
                  <a:srgbClr val="17645E"/>
                </a:solidFill>
                <a:latin typeface="Menlo"/>
                <a:ea typeface="Menlo"/>
                <a:cs typeface="Menlo"/>
              </a:rPr>
              <a:t>@app.page</a:t>
            </a:r>
            <a:r>
              <a:rPr sz="1725" b="0">
                <a:solidFill>
                  <a:srgbClr val="253230"/>
                </a:solidFill>
                <a:latin typeface="Menlo"/>
                <a:ea typeface="Menlo"/>
                <a:cs typeface="Menlo"/>
              </a:rPr>
              <a:t>("/")</a:t>
            </a:r>
          </a:p>
          <a:p xmlns:a="http://schemas.openxmlformats.org/drawingml/2006/main">
            <a:pPr>
              <a:lnSpc>
                <a:spcPct val="115000"/>
              </a:lnSpc>
              <a:buNone/>
              <a:defRPr sz="1725" b="0">
                <a:solidFill>
                  <a:srgbClr val="253230"/>
                </a:solidFill>
                <a:latin typeface="Menlo"/>
                <a:ea typeface="Menlo"/>
                <a:cs typeface="Menlo"/>
              </a:defRPr>
            </a:pPr>
            <a:r>
              <a:rPr sz="1725" b="0">
                <a:solidFill>
                  <a:srgbClr val="17645E"/>
                </a:solidFill>
                <a:latin typeface="Menlo"/>
                <a:ea typeface="Menlo"/>
                <a:cs typeface="Menlo"/>
              </a:rPr>
              <a:t>def home</a:t>
            </a:r>
            <a:r>
              <a:rPr sz="1725" b="0">
                <a:solidFill>
                  <a:srgbClr val="253230"/>
                </a:solidFill>
                <a:latin typeface="Menlo"/>
                <a:ea typeface="Menlo"/>
                <a:cs typeface="Menlo"/>
              </a:rPr>
              <a:t>():</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    return Stack(</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        status(),</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        status.refresh_button("Refresh"),</a:t>
            </a:r>
          </a:p>
          <a:p xmlns:a="http://schemas.openxmlformats.org/drawingml/2006/main">
            <a:pPr>
              <a:lnSpc>
                <a:spcPct val="115000"/>
              </a:lnSpc>
              <a:buNone/>
              <a:defRPr sz="1725" b="0">
                <a:solidFill>
                  <a:srgbClr val="253230"/>
                </a:solidFill>
                <a:latin typeface="Menlo"/>
                <a:ea typeface="Menlo"/>
                <a:cs typeface="Menlo"/>
              </a:defRPr>
            </a:pPr>
            <a:r>
              <a:rPr sz="1725" b="0">
                <a:solidFill>
                  <a:srgbClr val="253230"/>
                </a:solidFill>
                <a:latin typeface="Menlo"/>
                <a:ea typeface="Menlo"/>
                <a:cs typeface="Menlo"/>
              </a:rPr>
              <a:t>    )</a:t>
            </a:r>
          </a:p>
        </p:txBody>
      </p:sp>
      <p:sp>
        <p:nvSpPr>
          <p:cNvPr id="4" name="initial-heading">
            <a:extLst xmlns:a="http://schemas.openxmlformats.org/drawingml/2006/main">
              <a:ext uri="{FF2B5EF4-FFF2-40B4-BE49-F238E27FC236}">
                <a16:creationId xmlns:a16="http://schemas.microsoft.com/office/drawing/2014/main" id="{15A5EBFE-241C-4DA2-A324-2BD0783D09CF}"/>
              </a:ext>
            </a:extLst>
          </p:cNvPr>
          <p:cNvSpPr>
            <a:spLocks xmlns:a="http://schemas.openxmlformats.org/drawingml/2006/main" noGrp="1"/>
          </p:cNvSpPr>
          <p:nvPr/>
        </p:nvSpPr>
        <p:spPr>
          <a:xfrm xmlns:a="http://schemas.openxmlformats.org/drawingml/2006/main">
            <a:off x="8362950" y="1762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1">
                <a:solidFill>
                  <a:srgbClr val="193A37"/>
                </a:solidFill>
                <a:latin typeface="Arial"/>
                <a:ea typeface="Arial"/>
                <a:cs typeface="Arial"/>
              </a:defRPr>
            </a:pPr>
            <a:r>
              <a:rPr sz="2175" b="1">
                <a:solidFill>
                  <a:srgbClr val="193A37"/>
                </a:solidFill>
                <a:latin typeface="Arial"/>
                <a:ea typeface="Arial"/>
                <a:cs typeface="Arial"/>
              </a:rPr>
              <a:t>First visit</a:t>
            </a:r>
          </a:p>
        </p:txBody>
      </p:sp>
      <p:sp>
        <p:nvSpPr>
          <p:cNvPr id="5" name="initial-request">
            <a:extLst xmlns:a="http://schemas.openxmlformats.org/drawingml/2006/main">
              <a:ext uri="{FF2B5EF4-FFF2-40B4-BE49-F238E27FC236}">
                <a16:creationId xmlns:a16="http://schemas.microsoft.com/office/drawing/2014/main" id="{965CF633-5208-409D-8071-F9B6285155C8}"/>
              </a:ext>
            </a:extLst>
          </p:cNvPr>
          <p:cNvSpPr>
            <a:spLocks xmlns:a="http://schemas.openxmlformats.org/drawingml/2006/main" noGrp="1"/>
          </p:cNvSpPr>
          <p:nvPr/>
        </p:nvSpPr>
        <p:spPr>
          <a:xfrm xmlns:a="http://schemas.openxmlformats.org/drawingml/2006/main">
            <a:off x="8362950" y="2276475"/>
            <a:ext cx="302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7645E"/>
                </a:solidFill>
                <a:latin typeface="Menlo"/>
                <a:ea typeface="Menlo"/>
                <a:cs typeface="Menlo"/>
              </a:defRPr>
            </a:pPr>
            <a:r>
              <a:rPr sz="1950" b="0">
                <a:solidFill>
                  <a:srgbClr val="17645E"/>
                </a:solidFill>
                <a:latin typeface="Menlo"/>
                <a:ea typeface="Menlo"/>
                <a:cs typeface="Menlo"/>
              </a:rPr>
              <a:t>GET /</a:t>
            </a:r>
          </a:p>
        </p:txBody>
      </p:sp>
      <p:sp>
        <p:nvSpPr>
          <p:cNvPr id="6" name="initial-result">
            <a:extLst xmlns:a="http://schemas.openxmlformats.org/drawingml/2006/main">
              <a:ext uri="{FF2B5EF4-FFF2-40B4-BE49-F238E27FC236}">
                <a16:creationId xmlns:a16="http://schemas.microsoft.com/office/drawing/2014/main" id="{0A86DDC2-5434-4017-B702-DF404218AE6E}"/>
              </a:ext>
            </a:extLst>
          </p:cNvPr>
          <p:cNvSpPr>
            <a:spLocks xmlns:a="http://schemas.openxmlformats.org/drawingml/2006/main" noGrp="1"/>
          </p:cNvSpPr>
          <p:nvPr/>
        </p:nvSpPr>
        <p:spPr>
          <a:xfrm xmlns:a="http://schemas.openxmlformats.org/drawingml/2006/main">
            <a:off x="8362950" y="2781300"/>
            <a:ext cx="3105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Render the page with</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the status view.</a:t>
            </a:r>
          </a:p>
        </p:txBody>
      </p:sp>
      <p:sp>
        <p:nvSpPr>
          <p:cNvPr id="7" name="refresh-heading">
            <a:extLst xmlns:a="http://schemas.openxmlformats.org/drawingml/2006/main">
              <a:ext uri="{FF2B5EF4-FFF2-40B4-BE49-F238E27FC236}">
                <a16:creationId xmlns:a16="http://schemas.microsoft.com/office/drawing/2014/main" id="{7C512DF0-242C-4B10-905E-30F9A9E0E019}"/>
              </a:ext>
            </a:extLst>
          </p:cNvPr>
          <p:cNvSpPr>
            <a:spLocks xmlns:a="http://schemas.openxmlformats.org/drawingml/2006/main" noGrp="1"/>
          </p:cNvSpPr>
          <p:nvPr/>
        </p:nvSpPr>
        <p:spPr>
          <a:xfrm xmlns:a="http://schemas.openxmlformats.org/drawingml/2006/main">
            <a:off x="8362950" y="40767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1">
                <a:solidFill>
                  <a:srgbClr val="193A37"/>
                </a:solidFill>
                <a:latin typeface="Arial"/>
                <a:ea typeface="Arial"/>
                <a:cs typeface="Arial"/>
              </a:defRPr>
            </a:pPr>
            <a:r>
              <a:rPr sz="2175" b="1">
                <a:solidFill>
                  <a:srgbClr val="193A37"/>
                </a:solidFill>
                <a:latin typeface="Arial"/>
                <a:ea typeface="Arial"/>
                <a:cs typeface="Arial"/>
              </a:rPr>
              <a:t>Refresh</a:t>
            </a:r>
          </a:p>
        </p:txBody>
      </p:sp>
      <p:sp>
        <p:nvSpPr>
          <p:cNvPr id="8" name="refresh-request">
            <a:extLst xmlns:a="http://schemas.openxmlformats.org/drawingml/2006/main">
              <a:ext uri="{FF2B5EF4-FFF2-40B4-BE49-F238E27FC236}">
                <a16:creationId xmlns:a16="http://schemas.microsoft.com/office/drawing/2014/main" id="{14F7D610-2F7D-4F53-949D-F7B5AAC00CF3}"/>
              </a:ext>
            </a:extLst>
          </p:cNvPr>
          <p:cNvSpPr>
            <a:spLocks xmlns:a="http://schemas.openxmlformats.org/drawingml/2006/main" noGrp="1"/>
          </p:cNvSpPr>
          <p:nvPr/>
        </p:nvSpPr>
        <p:spPr>
          <a:xfrm xmlns:a="http://schemas.openxmlformats.org/drawingml/2006/main">
            <a:off x="8362950" y="45815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7645E"/>
                </a:solidFill>
                <a:latin typeface="Menlo"/>
                <a:ea typeface="Menlo"/>
                <a:cs typeface="Menlo"/>
              </a:defRPr>
            </a:pPr>
            <a:r>
              <a:rPr sz="1950" b="0">
                <a:solidFill>
                  <a:srgbClr val="17645E"/>
                </a:solidFill>
                <a:latin typeface="Menlo"/>
                <a:ea typeface="Menlo"/>
                <a:cs typeface="Menlo"/>
              </a:rPr>
              <a:t>GET /status</a:t>
            </a:r>
          </a:p>
        </p:txBody>
      </p:sp>
      <p:sp>
        <p:nvSpPr>
          <p:cNvPr id="9" name="refresh-result">
            <a:extLst xmlns:a="http://schemas.openxmlformats.org/drawingml/2006/main">
              <a:ext uri="{FF2B5EF4-FFF2-40B4-BE49-F238E27FC236}">
                <a16:creationId xmlns:a16="http://schemas.microsoft.com/office/drawing/2014/main" id="{B7417BE1-526A-4746-ABD1-8B418CE65211}"/>
              </a:ext>
            </a:extLst>
          </p:cNvPr>
          <p:cNvSpPr>
            <a:spLocks xmlns:a="http://schemas.openxmlformats.org/drawingml/2006/main" noGrp="1"/>
          </p:cNvSpPr>
          <p:nvPr/>
        </p:nvSpPr>
        <p:spPr>
          <a:xfrm xmlns:a="http://schemas.openxmlformats.org/drawingml/2006/main">
            <a:off x="8362950" y="5095875"/>
            <a:ext cx="3105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Replace only the</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status region.</a:t>
            </a:r>
          </a:p>
        </p:txBody>
      </p:sp>
      <p:sp>
        <p:nvSpPr>
          <p:cNvPr id="10" name="code-context">
            <a:extLst xmlns:a="http://schemas.openxmlformats.org/drawingml/2006/main">
              <a:ext uri="{FF2B5EF4-FFF2-40B4-BE49-F238E27FC236}">
                <a16:creationId xmlns:a16="http://schemas.microsoft.com/office/drawing/2014/main" id="{1C4242A1-6456-4D10-9DBC-23C89F27647A}"/>
              </a:ext>
            </a:extLst>
          </p:cNvPr>
          <p:cNvSpPr>
            <a:spLocks xmlns:a="http://schemas.openxmlformats.org/drawingml/2006/main" noGrp="1"/>
          </p:cNvSpPr>
          <p:nvPr/>
        </p:nvSpPr>
        <p:spPr>
          <a:xfrm xmlns:a="http://schemas.openxmlformats.org/drawingml/2006/main">
            <a:off x="723900" y="6172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350" b="0">
                <a:solidFill>
                  <a:srgbClr val="52645F"/>
                </a:solidFill>
                <a:latin typeface="Arial"/>
                <a:ea typeface="Arial"/>
                <a:cs typeface="Arial"/>
              </a:defRPr>
            </a:pPr>
            <a:r>
              <a:rPr sz="1350" b="0">
                <a:solidFill>
                  <a:srgbClr val="52645F"/>
                </a:solidFill>
                <a:latin typeface="Arial"/>
                <a:ea typeface="Arial"/>
                <a:cs typeface="Arial"/>
              </a:rPr>
              <a:t>Minimal local example. Production apps need a configured session secret.</a:t>
            </a:r>
          </a:p>
        </p:txBody>
      </p:sp>
    </p:spTree>
    <p:extLst>
      <p:ext uri="{BB962C8B-B14F-4D97-AF65-F5344CB8AC3E}">
        <p14:creationId xmlns:p14="http://schemas.microsoft.com/office/powerpoint/2010/main" val="222520860"/>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title-6">
            <a:extLst xmlns:a="http://schemas.openxmlformats.org/drawingml/2006/main">
              <a:ext uri="{FF2B5EF4-FFF2-40B4-BE49-F238E27FC236}">
                <a16:creationId xmlns:a16="http://schemas.microsoft.com/office/drawing/2014/main" id="{DEB84D67-C854-43A2-BE2E-1B1B91D8EE33}"/>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Streamlit and Hedron</a:t>
            </a:r>
          </a:p>
        </p:txBody>
      </p:sp>
      <p:sp>
        <p:nvSpPr>
          <p:cNvPr id="2" name="page-6">
            <a:extLst xmlns:a="http://schemas.openxmlformats.org/drawingml/2006/main">
              <a:ext uri="{FF2B5EF4-FFF2-40B4-BE49-F238E27FC236}">
                <a16:creationId xmlns:a16="http://schemas.microsoft.com/office/drawing/2014/main" id="{CA2627EF-18AF-486C-9C05-32DF76C9ACEB}"/>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06</a:t>
            </a:r>
          </a:p>
        </p:txBody>
      </p:sp>
      <p:graphicFrame>
        <p:nvGraphicFramePr>
          <p:cNvPr id="7" name=""/>
          <p:cNvGraphicFramePr/>
          <p:nvPr/>
        </p:nvGraphicFramePr>
        <p:xfrm>
          <a:off xmlns:a="http://schemas.openxmlformats.org/drawingml/2006/main" x="685800" y="1685925"/>
          <a:ext xmlns:a="http://schemas.openxmlformats.org/drawingml/2006/main" cx="10820400" cy="3743325"/>
        </p:xfrm>
        <a:graphic xmlns:a="http://schemas.openxmlformats.org/drawingml/2006/main">
          <a:graphicData uri="http://schemas.openxmlformats.org/drawingml/2006/table">
            <a:tbl>
              <a:tblPr firstRow="0" firstCol="0" bandRow="0"/>
              <a:tblGrid>
                <a:gridCol w="1781175"/>
                <a:gridCol w="4276725"/>
                <a:gridCol w="4762500"/>
              </a:tblGrid>
              <a:tr h="628650">
                <a:tc>
                  <a:txBody>
                    <a:bodyPr/>
                    <a:lstStyle/>
                    <a:p>
                      <a:r>
                        <a:rPr sz="1950" b="1">
                          <a:solidFill>
                            <a:srgbClr val="17645E"/>
                          </a:solidFill>
                          <a:latin typeface="Arial"/>
                          <a:ea typeface="Arial"/>
                          <a:cs typeface="Arial"/>
                        </a:rPr>
                        <a:t>Interaction</a:t>
                      </a:r>
                    </a:p>
                  </a:txBody>
                  <a:tcPr marL="133350" marR="209550" marT="152400" marB="133350" anchor="ctr">
                    <a:lnL w="0">
                      <a:solidFill>
                        <a:srgbClr val="CCD7D1"/>
                      </a:solidFill>
                    </a:lnL>
                    <a:lnT w="0">
                      <a:solidFill>
                        <a:srgbClr val="CCD7D1"/>
                      </a:solidFill>
                    </a:lnT>
                    <a:solidFill>
                      <a:srgbClr val="E7F1EE"/>
                    </a:solidFill>
                  </a:tcPr>
                </a:tc>
                <a:tc>
                  <a:txBody>
                    <a:bodyPr/>
                    <a:lstStyle/>
                    <a:p>
                      <a:r>
                        <a:rPr sz="1950" b="1">
                          <a:solidFill>
                            <a:srgbClr val="17645E"/>
                          </a:solidFill>
                          <a:latin typeface="Arial"/>
                          <a:ea typeface="Arial"/>
                          <a:cs typeface="Arial"/>
                        </a:rPr>
                        <a:t>Streamlit</a:t>
                      </a:r>
                    </a:p>
                  </a:txBody>
                  <a:tcPr marL="133350" marR="209550" marT="152400" marB="133350" anchor="ctr">
                    <a:lnT w="0">
                      <a:solidFill>
                        <a:srgbClr val="CCD7D1"/>
                      </a:solidFill>
                    </a:lnT>
                    <a:solidFill>
                      <a:srgbClr val="E7F1EE"/>
                    </a:solidFill>
                  </a:tcPr>
                </a:tc>
                <a:tc>
                  <a:txBody>
                    <a:bodyPr/>
                    <a:lstStyle/>
                    <a:p>
                      <a:r>
                        <a:rPr sz="1950" b="1">
                          <a:solidFill>
                            <a:srgbClr val="17645E"/>
                          </a:solidFill>
                          <a:latin typeface="Arial"/>
                          <a:ea typeface="Arial"/>
                          <a:cs typeface="Arial"/>
                        </a:rPr>
                        <a:t>Hedron</a:t>
                      </a:r>
                    </a:p>
                  </a:txBody>
                  <a:tcPr marL="133350" marR="209550" marT="152400" marB="133350" anchor="ctr">
                    <a:lnR w="0">
                      <a:solidFill>
                        <a:srgbClr val="CCD7D1"/>
                      </a:solidFill>
                    </a:lnR>
                    <a:lnT w="0">
                      <a:solidFill>
                        <a:srgbClr val="CCD7D1"/>
                      </a:solidFill>
                    </a:lnT>
                    <a:solidFill>
                      <a:srgbClr val="E7F1EE"/>
                    </a:solidFill>
                  </a:tcPr>
                </a:tc>
              </a:tr>
              <a:tr h="1038225">
                <a:tc>
                  <a:txBody>
                    <a:bodyPr/>
                    <a:lstStyle/>
                    <a:p>
                      <a:r>
                        <a:rPr sz="1950">
                          <a:solidFill>
                            <a:srgbClr val="193A37"/>
                          </a:solidFill>
                          <a:latin typeface="Arial"/>
                          <a:ea typeface="Arial"/>
                          <a:cs typeface="Arial"/>
                        </a:rPr>
                        <a:t>Trigger</a:t>
                      </a:r>
                    </a:p>
                  </a:txBody>
                  <a:tcPr marL="133350" marR="209550" marT="171450" marB="133350" anchor="ctr">
                    <a:lnL w="0">
                      <a:solidFill>
                        <a:srgbClr val="CCD7D1"/>
                      </a:solidFill>
                    </a:lnL>
                    <a:solidFill>
                      <a:srgbClr val="F8F7F2"/>
                    </a:solidFill>
                  </a:tcPr>
                </a:tc>
                <a:tc>
                  <a:txBody>
                    <a:bodyPr/>
                    <a:lstStyle/>
                    <a:p>
                      <a:r>
                        <a:rPr sz="1950">
                          <a:solidFill>
                            <a:srgbClr val="193A37"/>
                          </a:solidFill>
                          <a:latin typeface="Arial"/>
                          <a:ea typeface="Arial"/>
                          <a:cs typeface="Arial"/>
                        </a:rPr>
                        <a:t>Widget changes by default</a:t>
                      </a:r>
                    </a:p>
                  </a:txBody>
                  <a:tcPr marL="133350" marR="209550" marT="171450" marB="133350" anchor="ctr">
                    <a:solidFill>
                      <a:srgbClr val="F8F7F2"/>
                    </a:solidFill>
                  </a:tcPr>
                </a:tc>
                <a:tc>
                  <a:txBody>
                    <a:bodyPr/>
                    <a:lstStyle/>
                    <a:p>
                      <a:r>
                        <a:rPr sz="1950">
                          <a:solidFill>
                            <a:srgbClr val="193A37"/>
                          </a:solidFill>
                          <a:latin typeface="Arial"/>
                          <a:ea typeface="Arial"/>
                          <a:cs typeface="Arial"/>
                        </a:rPr>
                        <a:t>A request to a named route</a:t>
                      </a:r>
                    </a:p>
                  </a:txBody>
                  <a:tcPr marL="133350" marR="209550" marT="171450" marB="133350" anchor="ctr">
                    <a:lnR w="0">
                      <a:solidFill>
                        <a:srgbClr val="CCD7D1"/>
                      </a:solidFill>
                    </a:lnR>
                    <a:solidFill>
                      <a:srgbClr val="F8F7F2"/>
                    </a:solidFill>
                  </a:tcPr>
                </a:tc>
              </a:tr>
              <a:tr h="1038225">
                <a:tc>
                  <a:txBody>
                    <a:bodyPr/>
                    <a:lstStyle/>
                    <a:p>
                      <a:r>
                        <a:rPr sz="1950">
                          <a:solidFill>
                            <a:srgbClr val="193A37"/>
                          </a:solidFill>
                          <a:latin typeface="Arial"/>
                          <a:ea typeface="Arial"/>
                          <a:cs typeface="Arial"/>
                        </a:rPr>
                        <a:t>Execution</a:t>
                      </a:r>
                    </a:p>
                  </a:txBody>
                  <a:tcPr marL="133350" marR="209550" marT="171450" marB="133350" anchor="ctr">
                    <a:lnL w="0">
                      <a:solidFill>
                        <a:srgbClr val="CCD7D1"/>
                      </a:solidFill>
                    </a:lnL>
                    <a:solidFill>
                      <a:srgbClr val="F8F7F2"/>
                    </a:solidFill>
                  </a:tcPr>
                </a:tc>
                <a:tc>
                  <a:txBody>
                    <a:bodyPr/>
                    <a:lstStyle/>
                    <a:p>
                      <a:r>
                        <a:rPr sz="1950">
                          <a:solidFill>
                            <a:srgbClr val="193A37"/>
                          </a:solidFill>
                          <a:latin typeface="Arial"/>
                          <a:ea typeface="Arial"/>
                          <a:cs typeface="Arial"/>
                        </a:rPr>
                        <a:t>Script reruns by default</a:t>
                      </a:r>
                    </a:p>
                  </a:txBody>
                  <a:tcPr marL="133350" marR="209550" marT="171450" marB="133350" anchor="ctr">
                    <a:solidFill>
                      <a:srgbClr val="F8F7F2"/>
                    </a:solidFill>
                  </a:tcPr>
                </a:tc>
                <a:tc>
                  <a:txBody>
                    <a:bodyPr/>
                    <a:lstStyle/>
                    <a:p>
                      <a:r>
                        <a:rPr sz="1950">
                          <a:solidFill>
                            <a:srgbClr val="193A37"/>
                          </a:solidFill>
                          <a:latin typeface="Arial"/>
                          <a:ea typeface="Arial"/>
                          <a:cs typeface="Arial"/>
                        </a:rPr>
                        <a:t>One page, view or action runs</a:t>
                      </a:r>
                    </a:p>
                  </a:txBody>
                  <a:tcPr marL="133350" marR="209550" marT="171450" marB="133350" anchor="ctr">
                    <a:lnR w="0">
                      <a:solidFill>
                        <a:srgbClr val="CCD7D1"/>
                      </a:solidFill>
                    </a:lnR>
                    <a:solidFill>
                      <a:srgbClr val="F8F7F2"/>
                    </a:solidFill>
                  </a:tcPr>
                </a:tc>
              </a:tr>
              <a:tr h="1038225">
                <a:tc>
                  <a:txBody>
                    <a:bodyPr/>
                    <a:lstStyle/>
                    <a:p>
                      <a:r>
                        <a:rPr sz="1950">
                          <a:solidFill>
                            <a:srgbClr val="193A37"/>
                          </a:solidFill>
                          <a:latin typeface="Arial"/>
                          <a:ea typeface="Arial"/>
                          <a:cs typeface="Arial"/>
                        </a:rPr>
                        <a:t>UI update</a:t>
                      </a:r>
                    </a:p>
                  </a:txBody>
                  <a:tcPr marL="133350" marR="209550" marT="171450" marB="133350" anchor="ctr">
                    <a:lnL w="0">
                      <a:solidFill>
                        <a:srgbClr val="CCD7D1"/>
                      </a:solidFill>
                    </a:lnL>
                    <a:lnB w="9525">
                      <a:solidFill>
                        <a:srgbClr val="CCD7D1"/>
                      </a:solidFill>
                    </a:lnB>
                    <a:solidFill>
                      <a:srgbClr val="F8F7F2"/>
                    </a:solidFill>
                  </a:tcPr>
                </a:tc>
                <a:tc>
                  <a:txBody>
                    <a:bodyPr/>
                    <a:lstStyle/>
                    <a:p>
                      <a:r>
                        <a:rPr sz="1950">
                          <a:solidFill>
                            <a:srgbClr val="193A37"/>
                          </a:solidFill>
                          <a:latin typeface="Arial"/>
                          <a:ea typeface="Arial"/>
                          <a:cs typeface="Arial"/>
                        </a:rPr>
                        <a:t>Rebuild UI from script output</a:t>
                      </a:r>
                    </a:p>
                  </a:txBody>
                  <a:tcPr marL="133350" marR="209550" marT="171450" marB="133350" anchor="ctr">
                    <a:lnB w="9525">
                      <a:solidFill>
                        <a:srgbClr val="CCD7D1"/>
                      </a:solidFill>
                    </a:lnB>
                    <a:solidFill>
                      <a:srgbClr val="F8F7F2"/>
                    </a:solidFill>
                  </a:tcPr>
                </a:tc>
                <a:tc>
                  <a:txBody>
                    <a:bodyPr/>
                    <a:lstStyle/>
                    <a:p>
                      <a:r>
                        <a:rPr sz="1950">
                          <a:solidFill>
                            <a:srgbClr val="193A37"/>
                          </a:solidFill>
                          <a:latin typeface="Arial"/>
                          <a:ea typeface="Arial"/>
                          <a:cs typeface="Arial"/>
                        </a:rPr>
                        <a:t>Return a page, fragment or redirect</a:t>
                      </a:r>
                    </a:p>
                  </a:txBody>
                  <a:tcPr marL="133350" marR="209550" marT="171450" marB="133350" anchor="ctr">
                    <a:lnR w="0">
                      <a:solidFill>
                        <a:srgbClr val="CCD7D1"/>
                      </a:solidFill>
                    </a:lnR>
                    <a:lnB w="9525">
                      <a:solidFill>
                        <a:srgbClr val="CCD7D1"/>
                      </a:solidFill>
                    </a:lnB>
                    <a:solidFill>
                      <a:srgbClr val="F8F7F2"/>
                    </a:solidFill>
                  </a:tcPr>
                </a:tc>
              </a:tr>
            </a:tbl>
          </a:graphicData>
        </a:graphic>
      </p:graphicFrame>
      <p:sp>
        <p:nvSpPr>
          <p:cNvPr id="4" name="streamlit-nuance">
            <a:extLst xmlns:a="http://schemas.openxmlformats.org/drawingml/2006/main">
              <a:ext uri="{FF2B5EF4-FFF2-40B4-BE49-F238E27FC236}">
                <a16:creationId xmlns:a16="http://schemas.microsoft.com/office/drawing/2014/main" id="{346619AC-ECE5-499E-9AD3-C2FCEE57D375}"/>
              </a:ext>
            </a:extLst>
          </p:cNvPr>
          <p:cNvSpPr>
            <a:spLocks xmlns:a="http://schemas.openxmlformats.org/drawingml/2006/main" noGrp="1"/>
          </p:cNvSpPr>
          <p:nvPr/>
        </p:nvSpPr>
        <p:spPr>
          <a:xfrm xmlns:a="http://schemas.openxmlformats.org/drawingml/2006/main">
            <a:off x="723900" y="5848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800" b="0">
                <a:solidFill>
                  <a:srgbClr val="52645F"/>
                </a:solidFill>
                <a:latin typeface="Arial"/>
                <a:ea typeface="Arial"/>
                <a:cs typeface="Arial"/>
              </a:defRPr>
            </a:pPr>
            <a:r>
              <a:rPr sz="1800" b="0">
                <a:solidFill>
                  <a:srgbClr val="52645F"/>
                </a:solidFill>
                <a:latin typeface="Arial"/>
                <a:ea typeface="Arial"/>
                <a:cs typeface="Arial"/>
              </a:rPr>
              <a:t>Streamlit forms batch input, and fragments can rerun part of an app.</a:t>
            </a:r>
          </a:p>
        </p:txBody>
      </p:sp>
    </p:spTree>
    <p:extLst>
      <p:ext uri="{BB962C8B-B14F-4D97-AF65-F5344CB8AC3E}">
        <p14:creationId xmlns:p14="http://schemas.microsoft.com/office/powerpoint/2010/main" val="1034780017"/>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title-7">
            <a:extLst xmlns:a="http://schemas.openxmlformats.org/drawingml/2006/main">
              <a:ext uri="{FF2B5EF4-FFF2-40B4-BE49-F238E27FC236}">
                <a16:creationId xmlns:a16="http://schemas.microsoft.com/office/drawing/2014/main" id="{FBB90D34-19B0-4E91-B736-B0680F5966C5}"/>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Data, forms and background work</a:t>
            </a:r>
          </a:p>
        </p:txBody>
      </p:sp>
      <p:sp>
        <p:nvSpPr>
          <p:cNvPr id="2" name="page-7">
            <a:extLst xmlns:a="http://schemas.openxmlformats.org/drawingml/2006/main">
              <a:ext uri="{FF2B5EF4-FFF2-40B4-BE49-F238E27FC236}">
                <a16:creationId xmlns:a16="http://schemas.microsoft.com/office/drawing/2014/main" id="{495B4DD7-1B9A-4334-AB75-1BA888F31312}"/>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07</a:t>
            </a:r>
          </a:p>
        </p:txBody>
      </p:sp>
      <p:sp>
        <p:nvSpPr>
          <p:cNvPr id="3" name="python-services">
            <a:extLst xmlns:a="http://schemas.openxmlformats.org/drawingml/2006/main">
              <a:ext uri="{FF2B5EF4-FFF2-40B4-BE49-F238E27FC236}">
                <a16:creationId xmlns:a16="http://schemas.microsoft.com/office/drawing/2014/main" id="{41C038CB-B1BB-4145-A3B8-6CACA9DFC695}"/>
              </a:ext>
            </a:extLst>
          </p:cNvPr>
          <p:cNvSpPr>
            <a:spLocks xmlns:a="http://schemas.openxmlformats.org/drawingml/2006/main" noGrp="1"/>
          </p:cNvSpPr>
          <p:nvPr/>
        </p:nvSpPr>
        <p:spPr>
          <a:xfrm xmlns:a="http://schemas.openxmlformats.org/drawingml/2006/main">
            <a:off x="723900" y="1914525"/>
            <a:ext cx="55149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3525" b="0">
                <a:solidFill>
                  <a:srgbClr val="17645E"/>
                </a:solidFill>
                <a:latin typeface="Georgia"/>
                <a:ea typeface="Georgia"/>
                <a:cs typeface="Georgia"/>
              </a:defRPr>
            </a:pPr>
            <a:r>
              <a:rPr sz="3525" b="0">
                <a:solidFill>
                  <a:srgbClr val="17645E"/>
                </a:solidFill>
                <a:latin typeface="Georgia"/>
                <a:ea typeface="Georgia"/>
                <a:cs typeface="Georgia"/>
              </a:rPr>
              <a:t>Keep your queries,</a:t>
            </a:r>
          </a:p>
          <a:p xmlns:a="http://schemas.openxmlformats.org/drawingml/2006/main">
            <a:pPr>
              <a:lnSpc>
                <a:spcPct val="120000"/>
              </a:lnSpc>
              <a:buNone/>
              <a:defRPr sz="3525" b="0">
                <a:solidFill>
                  <a:srgbClr val="17645E"/>
                </a:solidFill>
                <a:latin typeface="Georgia"/>
                <a:ea typeface="Georgia"/>
                <a:cs typeface="Georgia"/>
              </a:defRPr>
            </a:pPr>
            <a:r>
              <a:rPr sz="3525" b="0">
                <a:solidFill>
                  <a:srgbClr val="17645E"/>
                </a:solidFill>
                <a:latin typeface="Georgia"/>
                <a:ea typeface="Georgia"/>
                <a:cs typeface="Georgia"/>
              </a:rPr>
              <a:t>models and business</a:t>
            </a:r>
          </a:p>
          <a:p xmlns:a="http://schemas.openxmlformats.org/drawingml/2006/main">
            <a:pPr>
              <a:lnSpc>
                <a:spcPct val="120000"/>
              </a:lnSpc>
              <a:buNone/>
              <a:defRPr sz="3525" b="0">
                <a:solidFill>
                  <a:srgbClr val="17645E"/>
                </a:solidFill>
                <a:latin typeface="Georgia"/>
                <a:ea typeface="Georgia"/>
                <a:cs typeface="Georgia"/>
              </a:defRPr>
            </a:pPr>
            <a:r>
              <a:rPr sz="3525" b="0">
                <a:solidFill>
                  <a:srgbClr val="17645E"/>
                </a:solidFill>
                <a:latin typeface="Georgia"/>
                <a:ea typeface="Georgia"/>
                <a:cs typeface="Georgia"/>
              </a:rPr>
              <a:t>rules in Python.</a:t>
            </a:r>
          </a:p>
        </p:txBody>
      </p:sp>
      <p:sp>
        <p:nvSpPr>
          <p:cNvPr id="4" name="present-heading">
            <a:extLst xmlns:a="http://schemas.openxmlformats.org/drawingml/2006/main">
              <a:ext uri="{FF2B5EF4-FFF2-40B4-BE49-F238E27FC236}">
                <a16:creationId xmlns:a16="http://schemas.microsoft.com/office/drawing/2014/main" id="{C36CD652-FFAE-4CC4-B452-D4AA3247BAAD}"/>
              </a:ext>
            </a:extLst>
          </p:cNvPr>
          <p:cNvSpPr>
            <a:spLocks xmlns:a="http://schemas.openxmlformats.org/drawingml/2006/main" noGrp="1"/>
          </p:cNvSpPr>
          <p:nvPr/>
        </p:nvSpPr>
        <p:spPr>
          <a:xfrm xmlns:a="http://schemas.openxmlformats.org/drawingml/2006/main">
            <a:off x="6667500" y="17430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1">
                <a:solidFill>
                  <a:srgbClr val="193A37"/>
                </a:solidFill>
                <a:latin typeface="Arial"/>
                <a:ea typeface="Arial"/>
                <a:cs typeface="Arial"/>
              </a:defRPr>
            </a:pPr>
            <a:r>
              <a:rPr sz="2175" b="1">
                <a:solidFill>
                  <a:srgbClr val="193A37"/>
                </a:solidFill>
                <a:latin typeface="Arial"/>
                <a:ea typeface="Arial"/>
                <a:cs typeface="Arial"/>
              </a:rPr>
              <a:t>Present results</a:t>
            </a:r>
          </a:p>
        </p:txBody>
      </p:sp>
      <p:sp>
        <p:nvSpPr>
          <p:cNvPr id="5" name="present-body">
            <a:extLst xmlns:a="http://schemas.openxmlformats.org/drawingml/2006/main">
              <a:ext uri="{FF2B5EF4-FFF2-40B4-BE49-F238E27FC236}">
                <a16:creationId xmlns:a16="http://schemas.microsoft.com/office/drawing/2014/main" id="{A3F9A81C-0782-4729-8807-264947316FC9}"/>
              </a:ext>
            </a:extLst>
          </p:cNvPr>
          <p:cNvSpPr>
            <a:spLocks xmlns:a="http://schemas.openxmlformats.org/drawingml/2006/main" noGrp="1"/>
          </p:cNvSpPr>
          <p:nvPr/>
        </p:nvSpPr>
        <p:spPr>
          <a:xfrm xmlns:a="http://schemas.openxmlformats.org/drawingml/2006/main">
            <a:off x="6667500" y="22574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025" b="0">
                <a:solidFill>
                  <a:srgbClr val="193A37"/>
                </a:solidFill>
                <a:latin typeface="Arial"/>
                <a:ea typeface="Arial"/>
                <a:cs typeface="Arial"/>
              </a:defRPr>
            </a:pPr>
            <a:r>
              <a:rPr sz="2025" b="0">
                <a:solidFill>
                  <a:srgbClr val="193A37"/>
                </a:solidFill>
                <a:latin typeface="Arial"/>
                <a:ea typeface="Arial"/>
                <a:cs typeface="Arial"/>
              </a:rPr>
              <a:t>Tables, charts and maps</a:t>
            </a:r>
          </a:p>
        </p:txBody>
      </p:sp>
      <p:sp>
        <p:nvSpPr>
          <p:cNvPr id="6" name="write-heading">
            <a:extLst xmlns:a="http://schemas.openxmlformats.org/drawingml/2006/main">
              <a:ext uri="{FF2B5EF4-FFF2-40B4-BE49-F238E27FC236}">
                <a16:creationId xmlns:a16="http://schemas.microsoft.com/office/drawing/2014/main" id="{42405DF1-A6BE-4374-A60A-D4F21973A3FD}"/>
              </a:ext>
            </a:extLst>
          </p:cNvPr>
          <p:cNvSpPr>
            <a:spLocks xmlns:a="http://schemas.openxmlformats.org/drawingml/2006/main" noGrp="1"/>
          </p:cNvSpPr>
          <p:nvPr/>
        </p:nvSpPr>
        <p:spPr>
          <a:xfrm xmlns:a="http://schemas.openxmlformats.org/drawingml/2006/main">
            <a:off x="6667500" y="31527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1">
                <a:solidFill>
                  <a:srgbClr val="193A37"/>
                </a:solidFill>
                <a:latin typeface="Arial"/>
                <a:ea typeface="Arial"/>
                <a:cs typeface="Arial"/>
              </a:defRPr>
            </a:pPr>
            <a:r>
              <a:rPr sz="2175" b="1">
                <a:solidFill>
                  <a:srgbClr val="193A37"/>
                </a:solidFill>
                <a:latin typeface="Arial"/>
                <a:ea typeface="Arial"/>
                <a:cs typeface="Arial"/>
              </a:rPr>
              <a:t>Handle changes</a:t>
            </a:r>
          </a:p>
        </p:txBody>
      </p:sp>
      <p:sp>
        <p:nvSpPr>
          <p:cNvPr id="7" name="write-body">
            <a:extLst xmlns:a="http://schemas.openxmlformats.org/drawingml/2006/main">
              <a:ext uri="{FF2B5EF4-FFF2-40B4-BE49-F238E27FC236}">
                <a16:creationId xmlns:a16="http://schemas.microsoft.com/office/drawing/2014/main" id="{1ADCC834-858F-4765-B7DF-7C4090887BBE}"/>
              </a:ext>
            </a:extLst>
          </p:cNvPr>
          <p:cNvSpPr>
            <a:spLocks xmlns:a="http://schemas.openxmlformats.org/drawingml/2006/main" noGrp="1"/>
          </p:cNvSpPr>
          <p:nvPr/>
        </p:nvSpPr>
        <p:spPr>
          <a:xfrm xmlns:a="http://schemas.openxmlformats.org/drawingml/2006/main">
            <a:off x="6667500" y="3676650"/>
            <a:ext cx="459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025" b="0">
                <a:solidFill>
                  <a:srgbClr val="193A37"/>
                </a:solidFill>
                <a:latin typeface="Arial"/>
                <a:ea typeface="Arial"/>
                <a:cs typeface="Arial"/>
              </a:defRPr>
            </a:pPr>
            <a:r>
              <a:rPr sz="2025" b="0">
                <a:solidFill>
                  <a:srgbClr val="193A37"/>
                </a:solidFill>
                <a:latin typeface="Arial"/>
                <a:ea typeface="Arial"/>
                <a:cs typeface="Arial"/>
              </a:rPr>
              <a:t>Validated forms and</a:t>
            </a:r>
          </a:p>
          <a:p xmlns:a="http://schemas.openxmlformats.org/drawingml/2006/main">
            <a:pPr>
              <a:lnSpc>
                <a:spcPct val="115000"/>
              </a:lnSpc>
              <a:buNone/>
              <a:defRPr sz="2025" b="0">
                <a:solidFill>
                  <a:srgbClr val="193A37"/>
                </a:solidFill>
                <a:latin typeface="Arial"/>
                <a:ea typeface="Arial"/>
                <a:cs typeface="Arial"/>
              </a:defRPr>
            </a:pPr>
            <a:r>
              <a:rPr sz="2025" b="0">
                <a:solidFill>
                  <a:srgbClr val="193A37"/>
                </a:solidFill>
                <a:latin typeface="Arial"/>
                <a:ea typeface="Arial"/>
                <a:cs typeface="Arial"/>
              </a:rPr>
              <a:t>explicit write actions</a:t>
            </a:r>
          </a:p>
        </p:txBody>
      </p:sp>
      <p:sp>
        <p:nvSpPr>
          <p:cNvPr id="8" name="jobs-heading">
            <a:extLst xmlns:a="http://schemas.openxmlformats.org/drawingml/2006/main">
              <a:ext uri="{FF2B5EF4-FFF2-40B4-BE49-F238E27FC236}">
                <a16:creationId xmlns:a16="http://schemas.microsoft.com/office/drawing/2014/main" id="{3AFD2041-5355-438C-A629-0329469AA717}"/>
              </a:ext>
            </a:extLst>
          </p:cNvPr>
          <p:cNvSpPr>
            <a:spLocks xmlns:a="http://schemas.openxmlformats.org/drawingml/2006/main" noGrp="1"/>
          </p:cNvSpPr>
          <p:nvPr/>
        </p:nvSpPr>
        <p:spPr>
          <a:xfrm xmlns:a="http://schemas.openxmlformats.org/drawingml/2006/main">
            <a:off x="6667500" y="495300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75" b="1">
                <a:solidFill>
                  <a:srgbClr val="193A37"/>
                </a:solidFill>
                <a:latin typeface="Arial"/>
                <a:ea typeface="Arial"/>
                <a:cs typeface="Arial"/>
              </a:defRPr>
            </a:pPr>
            <a:r>
              <a:rPr sz="2175" b="1">
                <a:solidFill>
                  <a:srgbClr val="193A37"/>
                </a:solidFill>
                <a:latin typeface="Arial"/>
                <a:ea typeface="Arial"/>
                <a:cs typeface="Arial"/>
              </a:rPr>
              <a:t>Track work</a:t>
            </a:r>
          </a:p>
        </p:txBody>
      </p:sp>
      <p:sp>
        <p:nvSpPr>
          <p:cNvPr id="9" name="jobs-body">
            <a:extLst xmlns:a="http://schemas.openxmlformats.org/drawingml/2006/main">
              <a:ext uri="{FF2B5EF4-FFF2-40B4-BE49-F238E27FC236}">
                <a16:creationId xmlns:a16="http://schemas.microsoft.com/office/drawing/2014/main" id="{5AFD0F4D-CF8A-4C2B-9D2F-C9B0054E8757}"/>
              </a:ext>
            </a:extLst>
          </p:cNvPr>
          <p:cNvSpPr>
            <a:spLocks xmlns:a="http://schemas.openxmlformats.org/drawingml/2006/main" noGrp="1"/>
          </p:cNvSpPr>
          <p:nvPr/>
        </p:nvSpPr>
        <p:spPr>
          <a:xfrm xmlns:a="http://schemas.openxmlformats.org/drawingml/2006/main">
            <a:off x="6667500" y="54673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025" b="0">
                <a:solidFill>
                  <a:srgbClr val="193A37"/>
                </a:solidFill>
                <a:latin typeface="Arial"/>
                <a:ea typeface="Arial"/>
                <a:cs typeface="Arial"/>
              </a:defRPr>
            </a:pPr>
            <a:r>
              <a:rPr sz="2025" b="0">
                <a:solidFill>
                  <a:srgbClr val="193A37"/>
                </a:solidFill>
                <a:latin typeface="Arial"/>
                <a:ea typeface="Arial"/>
                <a:cs typeface="Arial"/>
              </a:rPr>
              <a:t>Job backends and polling</a:t>
            </a:r>
          </a:p>
          <a:p xmlns:a="http://schemas.openxmlformats.org/drawingml/2006/main">
            <a:pPr>
              <a:lnSpc>
                <a:spcPct val="115000"/>
              </a:lnSpc>
              <a:buNone/>
              <a:defRPr sz="2025" b="0">
                <a:solidFill>
                  <a:srgbClr val="193A37"/>
                </a:solidFill>
                <a:latin typeface="Arial"/>
                <a:ea typeface="Arial"/>
                <a:cs typeface="Arial"/>
              </a:defRPr>
            </a:pPr>
            <a:r>
              <a:rPr sz="2025" b="0">
                <a:solidFill>
                  <a:srgbClr val="193A37"/>
                </a:solidFill>
                <a:latin typeface="Arial"/>
                <a:ea typeface="Arial"/>
                <a:cs typeface="Arial"/>
              </a:rPr>
              <a:t>for status updates</a:t>
            </a:r>
          </a:p>
        </p:txBody>
      </p:sp>
      <p:sp>
        <p:nvSpPr>
          <p:cNvPr id="10" name="services-ownership">
            <a:extLst xmlns:a="http://schemas.openxmlformats.org/drawingml/2006/main">
              <a:ext uri="{FF2B5EF4-FFF2-40B4-BE49-F238E27FC236}">
                <a16:creationId xmlns:a16="http://schemas.microsoft.com/office/drawing/2014/main" id="{3ECE271E-7ED2-4240-8FFE-871CCBBB3A23}"/>
              </a:ext>
            </a:extLst>
          </p:cNvPr>
          <p:cNvSpPr>
            <a:spLocks xmlns:a="http://schemas.openxmlformats.org/drawingml/2006/main" noGrp="1"/>
          </p:cNvSpPr>
          <p:nvPr/>
        </p:nvSpPr>
        <p:spPr>
          <a:xfrm xmlns:a="http://schemas.openxmlformats.org/drawingml/2006/main">
            <a:off x="752475" y="5067300"/>
            <a:ext cx="51339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875" b="0">
                <a:solidFill>
                  <a:srgbClr val="52645F"/>
                </a:solidFill>
                <a:latin typeface="Arial"/>
                <a:ea typeface="Arial"/>
                <a:cs typeface="Arial"/>
              </a:defRPr>
            </a:pPr>
            <a:r>
              <a:rPr sz="1875" b="0">
                <a:solidFill>
                  <a:srgbClr val="52645F"/>
                </a:solidFill>
                <a:latin typeface="Arial"/>
                <a:ea typeface="Arial"/>
                <a:cs typeface="Arial"/>
              </a:rPr>
              <a:t>Your app chooses the data store,</a:t>
            </a:r>
          </a:p>
          <a:p xmlns:a="http://schemas.openxmlformats.org/drawingml/2006/main">
            <a:pPr>
              <a:lnSpc>
                <a:spcPct val="115000"/>
              </a:lnSpc>
              <a:buNone/>
              <a:defRPr sz="1875" b="0">
                <a:solidFill>
                  <a:srgbClr val="52645F"/>
                </a:solidFill>
                <a:latin typeface="Arial"/>
                <a:ea typeface="Arial"/>
                <a:cs typeface="Arial"/>
              </a:defRPr>
            </a:pPr>
            <a:r>
              <a:rPr sz="1875" b="0">
                <a:solidFill>
                  <a:srgbClr val="52645F"/>
                </a:solidFill>
                <a:latin typeface="Arial"/>
                <a:ea typeface="Arial"/>
                <a:cs typeface="Arial"/>
              </a:rPr>
              <a:t>queue and access rules.</a:t>
            </a:r>
          </a:p>
        </p:txBody>
      </p:sp>
    </p:spTree>
    <p:extLst>
      <p:ext uri="{BB962C8B-B14F-4D97-AF65-F5344CB8AC3E}">
        <p14:creationId xmlns:p14="http://schemas.microsoft.com/office/powerpoint/2010/main" val="12871264"/>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title-8">
            <a:extLst xmlns:a="http://schemas.openxmlformats.org/drawingml/2006/main">
              <a:ext uri="{FF2B5EF4-FFF2-40B4-BE49-F238E27FC236}">
                <a16:creationId xmlns:a16="http://schemas.microsoft.com/office/drawing/2014/main" id="{87E95DFF-22C0-4A18-88D2-9732D082B245}"/>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Framework safety and application ownership</a:t>
            </a:r>
          </a:p>
        </p:txBody>
      </p:sp>
      <p:sp>
        <p:nvSpPr>
          <p:cNvPr id="2" name="page-8">
            <a:extLst xmlns:a="http://schemas.openxmlformats.org/drawingml/2006/main">
              <a:ext uri="{FF2B5EF4-FFF2-40B4-BE49-F238E27FC236}">
                <a16:creationId xmlns:a16="http://schemas.microsoft.com/office/drawing/2014/main" id="{87FEDC7D-0822-4913-AF2F-AE4A29ABA4F0}"/>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08</a:t>
            </a:r>
          </a:p>
        </p:txBody>
      </p:sp>
      <p:graphicFrame>
        <p:nvGraphicFramePr>
          <p:cNvPr id="7" name=""/>
          <p:cNvGraphicFramePr/>
          <p:nvPr/>
        </p:nvGraphicFramePr>
        <p:xfrm>
          <a:off xmlns:a="http://schemas.openxmlformats.org/drawingml/2006/main" x="685800" y="1581150"/>
          <a:ext xmlns:a="http://schemas.openxmlformats.org/drawingml/2006/main" cx="10820400" cy="4000500"/>
        </p:xfrm>
        <a:graphic xmlns:a="http://schemas.openxmlformats.org/drawingml/2006/main">
          <a:graphicData uri="http://schemas.openxmlformats.org/drawingml/2006/table">
            <a:tbl>
              <a:tblPr firstRow="0" firstCol="0" bandRow="0"/>
              <a:tblGrid>
                <a:gridCol w="5238750"/>
                <a:gridCol w="5581650"/>
              </a:tblGrid>
              <a:tr h="609600">
                <a:tc>
                  <a:txBody>
                    <a:bodyPr/>
                    <a:lstStyle/>
                    <a:p>
                      <a:r>
                        <a:rPr sz="1875" b="1">
                          <a:solidFill>
                            <a:srgbClr val="17645E"/>
                          </a:solidFill>
                          <a:latin typeface="Arial"/>
                          <a:ea typeface="Arial"/>
                          <a:cs typeface="Arial"/>
                        </a:rPr>
                        <a:t>Hedron helps with</a:t>
                      </a:r>
                    </a:p>
                  </a:txBody>
                  <a:tcPr marL="133350" marR="209550" marT="152400" marB="133350" anchor="ctr">
                    <a:lnL w="0">
                      <a:solidFill>
                        <a:srgbClr val="CCD7D1"/>
                      </a:solidFill>
                    </a:lnL>
                    <a:lnT w="0">
                      <a:solidFill>
                        <a:srgbClr val="CCD7D1"/>
                      </a:solidFill>
                    </a:lnT>
                    <a:solidFill>
                      <a:srgbClr val="E7F1EE"/>
                    </a:solidFill>
                  </a:tcPr>
                </a:tc>
                <a:tc>
                  <a:txBody>
                    <a:bodyPr/>
                    <a:lstStyle/>
                    <a:p>
                      <a:r>
                        <a:rPr sz="1875" b="1">
                          <a:solidFill>
                            <a:srgbClr val="17645E"/>
                          </a:solidFill>
                          <a:latin typeface="Arial"/>
                          <a:ea typeface="Arial"/>
                          <a:cs typeface="Arial"/>
                        </a:rPr>
                        <a:t>Your app and platform own</a:t>
                      </a:r>
                    </a:p>
                  </a:txBody>
                  <a:tcPr marL="133350" marR="209550" marT="152400" marB="133350" anchor="ctr">
                    <a:lnR w="0">
                      <a:solidFill>
                        <a:srgbClr val="CCD7D1"/>
                      </a:solidFill>
                    </a:lnR>
                    <a:lnT w="0">
                      <a:solidFill>
                        <a:srgbClr val="CCD7D1"/>
                      </a:solidFill>
                    </a:lnT>
                    <a:solidFill>
                      <a:srgbClr val="E7F1EE"/>
                    </a:solidFill>
                  </a:tcPr>
                </a:tc>
              </a:tr>
              <a:tr h="847725">
                <a:tc>
                  <a:txBody>
                    <a:bodyPr/>
                    <a:lstStyle/>
                    <a:p>
                      <a:r>
                        <a:rPr sz="1875">
                          <a:solidFill>
                            <a:srgbClr val="193A37"/>
                          </a:solidFill>
                          <a:latin typeface="Arial"/>
                          <a:ea typeface="Arial"/>
                          <a:cs typeface="Arial"/>
                        </a:rPr>
                        <a:t>HTML escaping</a:t>
                      </a:r>
                    </a:p>
                  </a:txBody>
                  <a:tcPr marL="133350" marR="209550" marT="171450" marB="133350" anchor="ctr">
                    <a:lnL w="0">
                      <a:solidFill>
                        <a:srgbClr val="CCD7D1"/>
                      </a:solidFill>
                    </a:lnL>
                    <a:solidFill>
                      <a:srgbClr val="F8F7F2"/>
                    </a:solidFill>
                  </a:tcPr>
                </a:tc>
                <a:tc>
                  <a:txBody>
                    <a:bodyPr/>
                    <a:lstStyle/>
                    <a:p>
                      <a:r>
                        <a:rPr sz="1875">
                          <a:solidFill>
                            <a:srgbClr val="193A37"/>
                          </a:solidFill>
                          <a:latin typeface="Arial"/>
                          <a:ea typeface="Arial"/>
                          <a:cs typeface="Arial"/>
                        </a:rPr>
                        <a:t>Decisions about trusted content</a:t>
                      </a:r>
                    </a:p>
                  </a:txBody>
                  <a:tcPr marL="133350" marR="209550" marT="171450" marB="133350" anchor="ctr">
                    <a:lnR w="0">
                      <a:solidFill>
                        <a:srgbClr val="CCD7D1"/>
                      </a:solidFill>
                    </a:lnR>
                    <a:solidFill>
                      <a:srgbClr val="F8F7F2"/>
                    </a:solidFill>
                  </a:tcPr>
                </a:tc>
              </a:tr>
              <a:tr h="847725">
                <a:tc>
                  <a:txBody>
                    <a:bodyPr/>
                    <a:lstStyle/>
                    <a:p>
                      <a:r>
                        <a:rPr sz="1875">
                          <a:solidFill>
                            <a:srgbClr val="193A37"/>
                          </a:solidFill>
                          <a:latin typeface="Arial"/>
                          <a:ea typeface="Arial"/>
                          <a:cs typeface="Arial"/>
                        </a:rPr>
                        <a:t>CSRF profiles and input validation</a:t>
                      </a:r>
                    </a:p>
                  </a:txBody>
                  <a:tcPr marL="133350" marR="209550" marT="171450" marB="133350" anchor="ctr">
                    <a:lnL w="0">
                      <a:solidFill>
                        <a:srgbClr val="CCD7D1"/>
                      </a:solidFill>
                    </a:lnL>
                    <a:solidFill>
                      <a:srgbClr val="F8F7F2"/>
                    </a:solidFill>
                  </a:tcPr>
                </a:tc>
                <a:tc>
                  <a:txBody>
                    <a:bodyPr/>
                    <a:lstStyle/>
                    <a:p>
                      <a:r>
                        <a:rPr sz="1875">
                          <a:solidFill>
                            <a:srgbClr val="193A37"/>
                          </a:solidFill>
                          <a:latin typeface="Arial"/>
                          <a:ea typeface="Arial"/>
                          <a:cs typeface="Arial"/>
                        </a:rPr>
                        <a:t>Identity and permission to act</a:t>
                      </a:r>
                    </a:p>
                  </a:txBody>
                  <a:tcPr marL="133350" marR="209550" marT="171450" marB="133350" anchor="ctr">
                    <a:lnR w="0">
                      <a:solidFill>
                        <a:srgbClr val="CCD7D1"/>
                      </a:solidFill>
                    </a:lnR>
                    <a:solidFill>
                      <a:srgbClr val="F8F7F2"/>
                    </a:solidFill>
                  </a:tcPr>
                </a:tc>
              </a:tr>
              <a:tr h="847725">
                <a:tc>
                  <a:txBody>
                    <a:bodyPr/>
                    <a:lstStyle/>
                    <a:p>
                      <a:r>
                        <a:rPr sz="1875">
                          <a:solidFill>
                            <a:srgbClr val="193A37"/>
                          </a:solidFill>
                          <a:latin typeface="Arial"/>
                          <a:ea typeface="Arial"/>
                          <a:cs typeface="Arial"/>
                        </a:rPr>
                        <a:t>Declared fragment targets</a:t>
                      </a:r>
                    </a:p>
                  </a:txBody>
                  <a:tcPr marL="133350" marR="209550" marT="171450" marB="133350" anchor="ctr">
                    <a:lnL w="0">
                      <a:solidFill>
                        <a:srgbClr val="CCD7D1"/>
                      </a:solidFill>
                    </a:lnL>
                    <a:solidFill>
                      <a:srgbClr val="F8F7F2"/>
                    </a:solidFill>
                  </a:tcPr>
                </a:tc>
                <a:tc>
                  <a:txBody>
                    <a:bodyPr/>
                    <a:lstStyle/>
                    <a:p>
                      <a:r>
                        <a:rPr sz="1875">
                          <a:solidFill>
                            <a:srgbClr val="193A37"/>
                          </a:solidFill>
                          <a:latin typeface="Arial"/>
                          <a:ea typeface="Arial"/>
                          <a:cs typeface="Arial"/>
                        </a:rPr>
                        <a:t>Access rules for routes and data</a:t>
                      </a:r>
                    </a:p>
                  </a:txBody>
                  <a:tcPr marL="133350" marR="209550" marT="171450" marB="133350" anchor="ctr">
                    <a:lnR w="0">
                      <a:solidFill>
                        <a:srgbClr val="CCD7D1"/>
                      </a:solidFill>
                    </a:lnR>
                    <a:solidFill>
                      <a:srgbClr val="F8F7F2"/>
                    </a:solidFill>
                  </a:tcPr>
                </a:tc>
              </a:tr>
              <a:tr h="847725">
                <a:tc>
                  <a:txBody>
                    <a:bodyPr/>
                    <a:lstStyle/>
                    <a:p>
                      <a:r>
                        <a:rPr sz="1875">
                          <a:solidFill>
                            <a:srgbClr val="193A37"/>
                          </a:solidFill>
                          <a:latin typeface="Arial"/>
                          <a:ea typeface="Arial"/>
                          <a:cs typeface="Arial"/>
                        </a:rPr>
                        <a:t>Build manifests and diagnostics</a:t>
                      </a:r>
                    </a:p>
                  </a:txBody>
                  <a:tcPr marL="133350" marR="209550" marT="171450" marB="133350" anchor="ctr">
                    <a:lnL w="0">
                      <a:solidFill>
                        <a:srgbClr val="CCD7D1"/>
                      </a:solidFill>
                    </a:lnL>
                    <a:lnB w="9525">
                      <a:solidFill>
                        <a:srgbClr val="CCD7D1"/>
                      </a:solidFill>
                    </a:lnB>
                    <a:solidFill>
                      <a:srgbClr val="F8F7F2"/>
                    </a:solidFill>
                  </a:tcPr>
                </a:tc>
                <a:tc>
                  <a:txBody>
                    <a:bodyPr/>
                    <a:lstStyle/>
                    <a:p>
                      <a:r>
                        <a:rPr sz="1875">
                          <a:solidFill>
                            <a:srgbClr val="193A37"/>
                          </a:solidFill>
                          <a:latin typeface="Arial"/>
                          <a:ea typeface="Arial"/>
                          <a:cs typeface="Arial"/>
                        </a:rPr>
                        <a:t>Storage, secrets and deployment</a:t>
                      </a:r>
                    </a:p>
                  </a:txBody>
                  <a:tcPr marL="133350" marR="209550" marT="171450" marB="133350" anchor="ctr">
                    <a:lnR w="0">
                      <a:solidFill>
                        <a:srgbClr val="CCD7D1"/>
                      </a:solidFill>
                    </a:lnR>
                    <a:lnB w="9525">
                      <a:solidFill>
                        <a:srgbClr val="CCD7D1"/>
                      </a:solidFill>
                    </a:lnB>
                    <a:solidFill>
                      <a:srgbClr val="F8F7F2"/>
                    </a:solidFill>
                  </a:tcPr>
                </a:tc>
              </a:tr>
            </a:tbl>
          </a:graphicData>
        </a:graphic>
      </p:graphicFrame>
      <p:sp>
        <p:nvSpPr>
          <p:cNvPr id="4" name="authorization-reminder">
            <a:extLst xmlns:a="http://schemas.openxmlformats.org/drawingml/2006/main">
              <a:ext uri="{FF2B5EF4-FFF2-40B4-BE49-F238E27FC236}">
                <a16:creationId xmlns:a16="http://schemas.microsoft.com/office/drawing/2014/main" id="{F332A9DF-8EB7-439C-9C10-E019ADA4311B}"/>
              </a:ext>
            </a:extLst>
          </p:cNvPr>
          <p:cNvSpPr>
            <a:spLocks xmlns:a="http://schemas.openxmlformats.org/drawingml/2006/main" noGrp="1"/>
          </p:cNvSpPr>
          <p:nvPr/>
        </p:nvSpPr>
        <p:spPr>
          <a:xfrm xmlns:a="http://schemas.openxmlformats.org/drawingml/2006/main">
            <a:off x="723900" y="59340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800" b="0">
                <a:solidFill>
                  <a:srgbClr val="52645F"/>
                </a:solidFill>
                <a:latin typeface="Arial"/>
                <a:ea typeface="Arial"/>
                <a:cs typeface="Arial"/>
              </a:defRPr>
            </a:pPr>
            <a:r>
              <a:rPr sz="1800" b="0">
                <a:solidFill>
                  <a:srgbClr val="52645F"/>
                </a:solidFill>
                <a:latin typeface="Arial"/>
                <a:ea typeface="Arial"/>
                <a:cs typeface="Arial"/>
              </a:rPr>
              <a:t>Signed-in users still need permission for each protected operation.</a:t>
            </a:r>
          </a:p>
        </p:txBody>
      </p:sp>
    </p:spTree>
    <p:extLst>
      <p:ext uri="{BB962C8B-B14F-4D97-AF65-F5344CB8AC3E}">
        <p14:creationId xmlns:p14="http://schemas.microsoft.com/office/powerpoint/2010/main" val="783314471"/>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title-9">
            <a:extLst xmlns:a="http://schemas.openxmlformats.org/drawingml/2006/main">
              <a:ext uri="{FF2B5EF4-FFF2-40B4-BE49-F238E27FC236}">
                <a16:creationId xmlns:a16="http://schemas.microsoft.com/office/drawing/2014/main" id="{F0A1CA3A-56BA-442B-A53F-B01C9370A8C7}"/>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Workbench and Connect</a:t>
            </a:r>
          </a:p>
        </p:txBody>
      </p:sp>
      <p:sp>
        <p:nvSpPr>
          <p:cNvPr id="2" name="page-9">
            <a:extLst xmlns:a="http://schemas.openxmlformats.org/drawingml/2006/main">
              <a:ext uri="{FF2B5EF4-FFF2-40B4-BE49-F238E27FC236}">
                <a16:creationId xmlns:a16="http://schemas.microsoft.com/office/drawing/2014/main" id="{ACA6432F-BCF6-49F9-8D5F-1525A1A0517E}"/>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09</a:t>
            </a:r>
          </a:p>
        </p:txBody>
      </p:sp>
      <p:sp>
        <p:nvSpPr>
          <p:cNvPr id="3" name="deployment-context">
            <a:extLst xmlns:a="http://schemas.openxmlformats.org/drawingml/2006/main">
              <a:ext uri="{FF2B5EF4-FFF2-40B4-BE49-F238E27FC236}">
                <a16:creationId xmlns:a16="http://schemas.microsoft.com/office/drawing/2014/main" id="{1AE59F77-F4B4-4D79-B8C7-A88C32448E27}"/>
              </a:ext>
            </a:extLst>
          </p:cNvPr>
          <p:cNvSpPr>
            <a:spLocks xmlns:a="http://schemas.openxmlformats.org/drawingml/2006/main" noGrp="1"/>
          </p:cNvSpPr>
          <p:nvPr/>
        </p:nvSpPr>
        <p:spPr>
          <a:xfrm xmlns:a="http://schemas.openxmlformats.org/drawingml/2006/main">
            <a:off x="723900" y="14763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925" b="0">
                <a:solidFill>
                  <a:srgbClr val="17645E"/>
                </a:solidFill>
                <a:latin typeface="Georgia"/>
                <a:ea typeface="Georgia"/>
                <a:cs typeface="Georgia"/>
              </a:defRPr>
            </a:pPr>
            <a:r>
              <a:rPr sz="2925" b="0">
                <a:solidFill>
                  <a:srgbClr val="17645E"/>
                </a:solidFill>
                <a:latin typeface="Georgia"/>
                <a:ea typeface="Georgia"/>
                <a:cs typeface="Georgia"/>
              </a:rPr>
              <a:t>An optional deployment path for the same Python app</a:t>
            </a:r>
          </a:p>
        </p:txBody>
      </p:sp>
      <p:sp>
        <p:nvSpPr>
          <p:cNvPr id="4" name="workbench-heading">
            <a:extLst xmlns:a="http://schemas.openxmlformats.org/drawingml/2006/main">
              <a:ext uri="{FF2B5EF4-FFF2-40B4-BE49-F238E27FC236}">
                <a16:creationId xmlns:a16="http://schemas.microsoft.com/office/drawing/2014/main" id="{EAD3DC3F-DCE5-4ADE-B7D8-345FE15133C0}"/>
              </a:ext>
            </a:extLst>
          </p:cNvPr>
          <p:cNvSpPr>
            <a:spLocks xmlns:a="http://schemas.openxmlformats.org/drawingml/2006/main" noGrp="1"/>
          </p:cNvSpPr>
          <p:nvPr/>
        </p:nvSpPr>
        <p:spPr>
          <a:xfrm xmlns:a="http://schemas.openxmlformats.org/drawingml/2006/main">
            <a:off x="742950" y="294322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325" b="1">
                <a:solidFill>
                  <a:srgbClr val="193A37"/>
                </a:solidFill>
                <a:latin typeface="Arial"/>
                <a:ea typeface="Arial"/>
                <a:cs typeface="Arial"/>
              </a:defRPr>
            </a:pPr>
            <a:r>
              <a:rPr sz="2325" b="1">
                <a:solidFill>
                  <a:srgbClr val="193A37"/>
                </a:solidFill>
                <a:latin typeface="Arial"/>
                <a:ea typeface="Arial"/>
                <a:cs typeface="Arial"/>
              </a:rPr>
              <a:t>Develop in Workbench</a:t>
            </a:r>
          </a:p>
        </p:txBody>
      </p:sp>
      <p:sp>
        <p:nvSpPr>
          <p:cNvPr id="5" name="workbench-body">
            <a:extLst xmlns:a="http://schemas.openxmlformats.org/drawingml/2006/main">
              <a:ext uri="{FF2B5EF4-FFF2-40B4-BE49-F238E27FC236}">
                <a16:creationId xmlns:a16="http://schemas.microsoft.com/office/drawing/2014/main" id="{2A698374-4BF4-480A-9F7A-16A0ACE11E20}"/>
              </a:ext>
            </a:extLst>
          </p:cNvPr>
          <p:cNvSpPr>
            <a:spLocks xmlns:a="http://schemas.openxmlformats.org/drawingml/2006/main" noGrp="1"/>
          </p:cNvSpPr>
          <p:nvPr/>
        </p:nvSpPr>
        <p:spPr>
          <a:xfrm xmlns:a="http://schemas.openxmlformats.org/drawingml/2006/main">
            <a:off x="742950" y="363855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Run and preview the app behind</a:t>
            </a:r>
          </a:p>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the session proxy.</a:t>
            </a:r>
          </a:p>
        </p:txBody>
      </p:sp>
      <p:sp>
        <p:nvSpPr>
          <p:cNvPr id="6" name="workbench-command">
            <a:extLst xmlns:a="http://schemas.openxmlformats.org/drawingml/2006/main">
              <a:ext uri="{FF2B5EF4-FFF2-40B4-BE49-F238E27FC236}">
                <a16:creationId xmlns:a16="http://schemas.microsoft.com/office/drawing/2014/main" id="{6876FA8D-0073-45D4-B55D-3C1F37A03976}"/>
              </a:ext>
            </a:extLst>
          </p:cNvPr>
          <p:cNvSpPr>
            <a:spLocks xmlns:a="http://schemas.openxmlformats.org/drawingml/2006/main" noGrp="1"/>
          </p:cNvSpPr>
          <p:nvPr/>
        </p:nvSpPr>
        <p:spPr>
          <a:xfrm xmlns:a="http://schemas.openxmlformats.org/drawingml/2006/main">
            <a:off x="742950" y="5038725"/>
            <a:ext cx="501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650" b="0">
                <a:solidFill>
                  <a:srgbClr val="17645E"/>
                </a:solidFill>
                <a:latin typeface="Menlo"/>
                <a:ea typeface="Menlo"/>
                <a:cs typeface="Menlo"/>
              </a:defRPr>
            </a:pPr>
            <a:r>
              <a:rPr sz="1650" b="0">
                <a:solidFill>
                  <a:srgbClr val="17645E"/>
                </a:solidFill>
                <a:latin typeface="Menlo"/>
                <a:ea typeface="Menlo"/>
                <a:cs typeface="Menlo"/>
              </a:rPr>
              <a:t>hedron-posit run app:app</a:t>
            </a:r>
          </a:p>
        </p:txBody>
      </p:sp>
      <p:sp>
        <p:nvSpPr>
          <p:cNvPr id="7" name="connect-heading">
            <a:extLst xmlns:a="http://schemas.openxmlformats.org/drawingml/2006/main">
              <a:ext uri="{FF2B5EF4-FFF2-40B4-BE49-F238E27FC236}">
                <a16:creationId xmlns:a16="http://schemas.microsoft.com/office/drawing/2014/main" id="{8F34A62E-1CAC-4C0F-9E6D-B8D8C3D6D5EE}"/>
              </a:ext>
            </a:extLst>
          </p:cNvPr>
          <p:cNvSpPr>
            <a:spLocks xmlns:a="http://schemas.openxmlformats.org/drawingml/2006/main" noGrp="1"/>
          </p:cNvSpPr>
          <p:nvPr/>
        </p:nvSpPr>
        <p:spPr>
          <a:xfrm xmlns:a="http://schemas.openxmlformats.org/drawingml/2006/main">
            <a:off x="6477000" y="29432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325" b="1">
                <a:solidFill>
                  <a:srgbClr val="193A37"/>
                </a:solidFill>
                <a:latin typeface="Arial"/>
                <a:ea typeface="Arial"/>
                <a:cs typeface="Arial"/>
              </a:defRPr>
            </a:pPr>
            <a:r>
              <a:rPr sz="2325" b="1">
                <a:solidFill>
                  <a:srgbClr val="193A37"/>
                </a:solidFill>
                <a:latin typeface="Arial"/>
                <a:ea typeface="Arial"/>
                <a:cs typeface="Arial"/>
              </a:rPr>
              <a:t>Publish on Connect</a:t>
            </a:r>
          </a:p>
        </p:txBody>
      </p:sp>
      <p:sp>
        <p:nvSpPr>
          <p:cNvPr id="8" name="connect-body">
            <a:extLst xmlns:a="http://schemas.openxmlformats.org/drawingml/2006/main">
              <a:ext uri="{FF2B5EF4-FFF2-40B4-BE49-F238E27FC236}">
                <a16:creationId xmlns:a16="http://schemas.microsoft.com/office/drawing/2014/main" id="{BD614A09-8CD6-4AE7-89F8-21A8F92A86AB}"/>
              </a:ext>
            </a:extLst>
          </p:cNvPr>
          <p:cNvSpPr>
            <a:spLocks xmlns:a="http://schemas.openxmlformats.org/drawingml/2006/main" noGrp="1"/>
          </p:cNvSpPr>
          <p:nvPr/>
        </p:nvSpPr>
        <p:spPr>
          <a:xfrm xmlns:a="http://schemas.openxmlformats.org/drawingml/2006/main">
            <a:off x="6477000" y="36385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Publish the app object as FastAPI</a:t>
            </a:r>
          </a:p>
          <a:p xmlns:a="http://schemas.openxmlformats.org/drawingml/2006/main">
            <a:pPr>
              <a:lnSpc>
                <a:spcPct val="115000"/>
              </a:lnSpc>
              <a:buNone/>
              <a:defRPr sz="2100" b="0">
                <a:solidFill>
                  <a:srgbClr val="193A37"/>
                </a:solidFill>
                <a:latin typeface="Arial"/>
                <a:ea typeface="Arial"/>
                <a:cs typeface="Arial"/>
              </a:defRPr>
            </a:pPr>
            <a:r>
              <a:rPr sz="2100" b="0">
                <a:solidFill>
                  <a:srgbClr val="193A37"/>
                </a:solidFill>
                <a:latin typeface="Arial"/>
                <a:ea typeface="Arial"/>
                <a:cs typeface="Arial"/>
              </a:rPr>
              <a:t>content at a durable URL.</a:t>
            </a:r>
          </a:p>
        </p:txBody>
      </p:sp>
      <p:sp>
        <p:nvSpPr>
          <p:cNvPr id="9" name="connect-command">
            <a:extLst xmlns:a="http://schemas.openxmlformats.org/drawingml/2006/main">
              <a:ext uri="{FF2B5EF4-FFF2-40B4-BE49-F238E27FC236}">
                <a16:creationId xmlns:a16="http://schemas.microsoft.com/office/drawing/2014/main" id="{8FD180C0-85FF-4D41-B78B-E85DA799DB4D}"/>
              </a:ext>
            </a:extLst>
          </p:cNvPr>
          <p:cNvSpPr>
            <a:spLocks xmlns:a="http://schemas.openxmlformats.org/drawingml/2006/main" noGrp="1"/>
          </p:cNvSpPr>
          <p:nvPr/>
        </p:nvSpPr>
        <p:spPr>
          <a:xfrm xmlns:a="http://schemas.openxmlformats.org/drawingml/2006/main">
            <a:off x="6477000" y="50387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650" b="0">
                <a:solidFill>
                  <a:srgbClr val="17645E"/>
                </a:solidFill>
                <a:latin typeface="Menlo"/>
                <a:ea typeface="Menlo"/>
                <a:cs typeface="Menlo"/>
              </a:defRPr>
            </a:pPr>
            <a:r>
              <a:rPr sz="1650" b="0">
                <a:solidFill>
                  <a:srgbClr val="17645E"/>
                </a:solidFill>
                <a:latin typeface="Menlo"/>
                <a:ea typeface="Menlo"/>
                <a:cs typeface="Menlo"/>
              </a:rPr>
              <a:t>rsconnect deploy fastapi</a:t>
            </a:r>
          </a:p>
        </p:txBody>
      </p:sp>
      <p:sp>
        <p:nvSpPr>
          <p:cNvPr id="10" name="posit-boundary">
            <a:extLst xmlns:a="http://schemas.openxmlformats.org/drawingml/2006/main">
              <a:ext uri="{FF2B5EF4-FFF2-40B4-BE49-F238E27FC236}">
                <a16:creationId xmlns:a16="http://schemas.microsoft.com/office/drawing/2014/main" id="{C3942BC0-768A-411A-BBFA-1CFCB13F9264}"/>
              </a:ext>
            </a:extLst>
          </p:cNvPr>
          <p:cNvSpPr>
            <a:spLocks xmlns:a="http://schemas.openxmlformats.org/drawingml/2006/main" noGrp="1"/>
          </p:cNvSpPr>
          <p:nvPr/>
        </p:nvSpPr>
        <p:spPr>
          <a:xfrm xmlns:a="http://schemas.openxmlformats.org/drawingml/2006/main">
            <a:off x="742950" y="6000750"/>
            <a:ext cx="10439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75" b="0">
                <a:solidFill>
                  <a:srgbClr val="52645F"/>
                </a:solidFill>
                <a:latin typeface="Arial"/>
                <a:ea typeface="Arial"/>
                <a:cs typeface="Arial"/>
              </a:defRPr>
            </a:pPr>
            <a:r>
              <a:rPr sz="1575" b="0">
                <a:solidFill>
                  <a:srgbClr val="52645F"/>
                </a:solidFill>
                <a:latin typeface="Arial"/>
                <a:ea typeface="Arial"/>
                <a:cs typeface="Arial"/>
              </a:rPr>
              <a:t>Uses the optional hedron-posit Beta adapter. Check supported platform versions.</a:t>
            </a:r>
          </a:p>
        </p:txBody>
      </p:sp>
    </p:spTree>
    <p:extLst>
      <p:ext uri="{BB962C8B-B14F-4D97-AF65-F5344CB8AC3E}">
        <p14:creationId xmlns:p14="http://schemas.microsoft.com/office/powerpoint/2010/main" val="1141932500"/>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7DA5EC1E-6009-42DB-B3A7-5EFD5F3C51CE}"/>
              </a:ext>
            </a:extLst>
          </p:cNvPr>
          <p:cNvSpPr>
            <a:spLocks xmlns:a="http://schemas.openxmlformats.org/drawingml/2006/main" noGrp="1"/>
          </p:cNvSpPr>
          <p:nvPr/>
        </p:nvSpPr>
        <p:spPr>
          <a:xfrm xmlns:a="http://schemas.openxmlformats.org/drawingml/2006/main">
            <a:off x="685800" y="4572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600" b="0">
                <a:solidFill>
                  <a:srgbClr val="193A37"/>
                </a:solidFill>
                <a:latin typeface="Georgia"/>
                <a:ea typeface="Georgia"/>
                <a:cs typeface="Georgia"/>
              </a:defRPr>
            </a:pPr>
            <a:r>
              <a:rPr sz="3600" b="0">
                <a:solidFill>
                  <a:srgbClr val="193A37"/>
                </a:solidFill>
                <a:latin typeface="Georgia"/>
                <a:ea typeface="Georgia"/>
                <a:cs typeface="Georgia"/>
              </a:rPr>
              <a:t>A first Hedron pilot</a:t>
            </a:r>
          </a:p>
        </p:txBody>
      </p:sp>
      <p:sp>
        <p:nvSpPr>
          <p:cNvPr id="2" name="page-10">
            <a:extLst xmlns:a="http://schemas.openxmlformats.org/drawingml/2006/main">
              <a:ext uri="{FF2B5EF4-FFF2-40B4-BE49-F238E27FC236}">
                <a16:creationId xmlns:a16="http://schemas.microsoft.com/office/drawing/2014/main" id="{69726973-BB37-4BA6-A7B4-BFA492B45991}"/>
              </a:ext>
            </a:extLst>
          </p:cNvPr>
          <p:cNvSpPr>
            <a:spLocks xmlns:a="http://schemas.openxmlformats.org/drawingml/2006/main" noGrp="1"/>
          </p:cNvSpPr>
          <p:nvPr/>
        </p:nvSpPr>
        <p:spPr>
          <a:xfrm xmlns:a="http://schemas.openxmlformats.org/drawingml/2006/main">
            <a:off x="11287125" y="6448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00" b="0">
                <a:solidFill>
                  <a:srgbClr val="52645F"/>
                </a:solidFill>
                <a:latin typeface="Arial"/>
                <a:ea typeface="Arial"/>
                <a:cs typeface="Arial"/>
              </a:defRPr>
            </a:pPr>
            <a:r>
              <a:rPr sz="1200" b="0">
                <a:solidFill>
                  <a:srgbClr val="52645F"/>
                </a:solidFill>
                <a:latin typeface="Arial"/>
                <a:ea typeface="Arial"/>
                <a:cs typeface="Arial"/>
              </a:rPr>
              <a:t>10</a:t>
            </a:r>
          </a:p>
        </p:txBody>
      </p:sp>
      <p:sp>
        <p:nvSpPr>
          <p:cNvPr id="3" name="pilot-candidate">
            <a:extLst xmlns:a="http://schemas.openxmlformats.org/drawingml/2006/main">
              <a:ext uri="{FF2B5EF4-FFF2-40B4-BE49-F238E27FC236}">
                <a16:creationId xmlns:a16="http://schemas.microsoft.com/office/drawing/2014/main" id="{030CD72D-AA71-4917-A39C-71A847664CF2}"/>
              </a:ext>
            </a:extLst>
          </p:cNvPr>
          <p:cNvSpPr>
            <a:spLocks xmlns:a="http://schemas.openxmlformats.org/drawingml/2006/main" noGrp="1"/>
          </p:cNvSpPr>
          <p:nvPr/>
        </p:nvSpPr>
        <p:spPr>
          <a:xfrm xmlns:a="http://schemas.openxmlformats.org/drawingml/2006/main">
            <a:off x="723900" y="145732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3525" b="0">
                <a:solidFill>
                  <a:srgbClr val="17645E"/>
                </a:solidFill>
                <a:latin typeface="Georgia"/>
                <a:ea typeface="Georgia"/>
                <a:cs typeface="Georgia"/>
              </a:defRPr>
            </a:pPr>
            <a:r>
              <a:rPr sz="3525" b="0">
                <a:solidFill>
                  <a:srgbClr val="17645E"/>
                </a:solidFill>
                <a:latin typeface="Georgia"/>
                <a:ea typeface="Georgia"/>
                <a:cs typeface="Georgia"/>
              </a:rPr>
              <a:t>A dashboard with shared filters</a:t>
            </a:r>
          </a:p>
          <a:p xmlns:a="http://schemas.openxmlformats.org/drawingml/2006/main">
            <a:pPr>
              <a:lnSpc>
                <a:spcPct val="115000"/>
              </a:lnSpc>
              <a:buNone/>
              <a:defRPr sz="3525" b="0">
                <a:solidFill>
                  <a:srgbClr val="17645E"/>
                </a:solidFill>
                <a:latin typeface="Georgia"/>
                <a:ea typeface="Georgia"/>
                <a:cs typeface="Georgia"/>
              </a:defRPr>
            </a:pPr>
            <a:r>
              <a:rPr sz="3525" b="0">
                <a:solidFill>
                  <a:srgbClr val="17645E"/>
                </a:solidFill>
                <a:latin typeface="Georgia"/>
                <a:ea typeface="Georgia"/>
                <a:cs typeface="Georgia"/>
              </a:rPr>
              <a:t>and one approved write action</a:t>
            </a:r>
          </a:p>
        </p:txBody>
      </p:sp>
      <p:sp>
        <p:nvSpPr>
          <p:cNvPr id="4" name="pilot-scope-heading">
            <a:extLst xmlns:a="http://schemas.openxmlformats.org/drawingml/2006/main">
              <a:ext uri="{FF2B5EF4-FFF2-40B4-BE49-F238E27FC236}">
                <a16:creationId xmlns:a16="http://schemas.microsoft.com/office/drawing/2014/main" id="{6B9DCC2D-935D-4760-8122-22891880B0B9}"/>
              </a:ext>
            </a:extLst>
          </p:cNvPr>
          <p:cNvSpPr>
            <a:spLocks xmlns:a="http://schemas.openxmlformats.org/drawingml/2006/main" noGrp="1"/>
          </p:cNvSpPr>
          <p:nvPr/>
        </p:nvSpPr>
        <p:spPr>
          <a:xfrm xmlns:a="http://schemas.openxmlformats.org/drawingml/2006/main">
            <a:off x="742950" y="342900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93A37"/>
                </a:solidFill>
                <a:latin typeface="Arial"/>
                <a:ea typeface="Arial"/>
                <a:cs typeface="Arial"/>
              </a:defRPr>
            </a:pPr>
            <a:r>
              <a:rPr sz="2250" b="1">
                <a:solidFill>
                  <a:srgbClr val="193A37"/>
                </a:solidFill>
                <a:latin typeface="Arial"/>
                <a:ea typeface="Arial"/>
                <a:cs typeface="Arial"/>
              </a:rPr>
              <a:t>Pilot scope</a:t>
            </a:r>
          </a:p>
        </p:txBody>
      </p:sp>
      <p:sp>
        <p:nvSpPr>
          <p:cNvPr id="5" name="pilot-scope">
            <a:extLst xmlns:a="http://schemas.openxmlformats.org/drawingml/2006/main">
              <a:ext uri="{FF2B5EF4-FFF2-40B4-BE49-F238E27FC236}">
                <a16:creationId xmlns:a16="http://schemas.microsoft.com/office/drawing/2014/main" id="{CA681AFA-CA16-4D11-B1E4-DEE6BCAD035F}"/>
              </a:ext>
            </a:extLst>
          </p:cNvPr>
          <p:cNvSpPr>
            <a:spLocks xmlns:a="http://schemas.openxmlformats.org/drawingml/2006/main" noGrp="1"/>
          </p:cNvSpPr>
          <p:nvPr/>
        </p:nvSpPr>
        <p:spPr>
          <a:xfrm xmlns:a="http://schemas.openxmlformats.org/drawingml/2006/main">
            <a:off x="742950" y="40957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Keep the existing Python data logic.</a:t>
            </a:r>
          </a:p>
          <a:p xmlns:a="http://schemas.openxmlformats.org/drawingml/2006/main">
            <a:r>
              <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Build one page with a refreshable</a:t>
            </a:r>
          </a:p>
          <a:p xmlns:a="http://schemas.openxmlformats.org/drawingml/2006/main">
            <a:pPr>
              <a:lnSpc>
                <a:spcPct val="115000"/>
              </a:lnSpc>
              <a:buNone/>
              <a:defRPr sz="1950" b="0">
                <a:solidFill>
                  <a:srgbClr val="193A37"/>
                </a:solidFill>
                <a:latin typeface="Arial"/>
                <a:ea typeface="Arial"/>
                <a:cs typeface="Arial"/>
              </a:defRPr>
            </a:pPr>
            <a:r>
              <a:rPr sz="1950" b="0">
                <a:solidFill>
                  <a:srgbClr val="193A37"/>
                </a:solidFill>
                <a:latin typeface="Arial"/>
                <a:ea typeface="Arial"/>
                <a:cs typeface="Arial"/>
              </a:rPr>
              <a:t>view and an action.</a:t>
            </a:r>
          </a:p>
        </p:txBody>
      </p:sp>
      <p:sp>
        <p:nvSpPr>
          <p:cNvPr id="6" name="pilot-evidence-heading">
            <a:extLst xmlns:a="http://schemas.openxmlformats.org/drawingml/2006/main">
              <a:ext uri="{FF2B5EF4-FFF2-40B4-BE49-F238E27FC236}">
                <a16:creationId xmlns:a16="http://schemas.microsoft.com/office/drawing/2014/main" id="{E160A1D8-D1CA-411A-89A9-19261F8F0687}"/>
              </a:ext>
            </a:extLst>
          </p:cNvPr>
          <p:cNvSpPr>
            <a:spLocks xmlns:a="http://schemas.openxmlformats.org/drawingml/2006/main" noGrp="1"/>
          </p:cNvSpPr>
          <p:nvPr/>
        </p:nvSpPr>
        <p:spPr>
          <a:xfrm xmlns:a="http://schemas.openxmlformats.org/drawingml/2006/main">
            <a:off x="6534150" y="3429000"/>
            <a:ext cx="4962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2250" b="1">
                <a:solidFill>
                  <a:srgbClr val="193A37"/>
                </a:solidFill>
                <a:latin typeface="Arial"/>
                <a:ea typeface="Arial"/>
                <a:cs typeface="Arial"/>
              </a:defRPr>
            </a:pPr>
            <a:r>
              <a:rPr sz="2250" b="1">
                <a:solidFill>
                  <a:srgbClr val="193A37"/>
                </a:solidFill>
                <a:latin typeface="Arial"/>
                <a:ea typeface="Arial"/>
                <a:cs typeface="Arial"/>
              </a:rPr>
              <a:t>Evidence to collect</a:t>
            </a:r>
          </a:p>
        </p:txBody>
      </p:sp>
      <p:sp>
        <p:nvSpPr>
          <p:cNvPr id="7" name="pilot-evidence">
            <a:extLst xmlns:a="http://schemas.openxmlformats.org/drawingml/2006/main">
              <a:ext uri="{FF2B5EF4-FFF2-40B4-BE49-F238E27FC236}">
                <a16:creationId xmlns:a16="http://schemas.microsoft.com/office/drawing/2014/main" id="{DE2C9535-EC7B-4BB7-B6CB-73973A7C78DF}"/>
              </a:ext>
            </a:extLst>
          </p:cNvPr>
          <p:cNvSpPr>
            <a:spLocks xmlns:a="http://schemas.openxmlformats.org/drawingml/2006/main" noGrp="1"/>
          </p:cNvSpPr>
          <p:nvPr/>
        </p:nvSpPr>
        <p:spPr>
          <a:xfrm xmlns:a="http://schemas.openxmlformats.org/drawingml/2006/main">
            <a:off x="6534150" y="4095750"/>
            <a:ext cx="50292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875" b="0">
                <a:solidFill>
                  <a:srgbClr val="193A37"/>
                </a:solidFill>
                <a:latin typeface="Arial"/>
                <a:ea typeface="Arial"/>
                <a:cs typeface="Arial"/>
              </a:defRPr>
            </a:pPr>
            <a:r>
              <a:rPr sz="1875" b="0">
                <a:solidFill>
                  <a:srgbClr val="193A37"/>
                </a:solidFill>
                <a:latin typeface="Arial"/>
                <a:ea typeface="Arial"/>
                <a:cs typeface="Arial"/>
              </a:rPr>
              <a:t>Can users finish the task?</a:t>
            </a:r>
          </a:p>
          <a:p xmlns:a="http://schemas.openxmlformats.org/drawingml/2006/main">
            <a:r>
              <a:t/>
            </a:r>
          </a:p>
          <a:p xmlns:a="http://schemas.openxmlformats.org/drawingml/2006/main">
            <a:pPr>
              <a:lnSpc>
                <a:spcPct val="115000"/>
              </a:lnSpc>
              <a:buNone/>
              <a:defRPr sz="1875" b="0">
                <a:solidFill>
                  <a:srgbClr val="193A37"/>
                </a:solidFill>
                <a:latin typeface="Arial"/>
                <a:ea typeface="Arial"/>
                <a:cs typeface="Arial"/>
              </a:defRPr>
            </a:pPr>
            <a:r>
              <a:rPr sz="1875" b="0">
                <a:solidFill>
                  <a:srgbClr val="193A37"/>
                </a:solidFill>
                <a:latin typeface="Arial"/>
                <a:ea typeface="Arial"/>
                <a:cs typeface="Arial"/>
              </a:rPr>
              <a:t>Do access rules and failures work?</a:t>
            </a:r>
          </a:p>
          <a:p xmlns:a="http://schemas.openxmlformats.org/drawingml/2006/main">
            <a:r>
              <a:t/>
            </a:r>
          </a:p>
          <a:p xmlns:a="http://schemas.openxmlformats.org/drawingml/2006/main">
            <a:pPr>
              <a:lnSpc>
                <a:spcPct val="115000"/>
              </a:lnSpc>
              <a:buNone/>
              <a:defRPr sz="1875" b="0">
                <a:solidFill>
                  <a:srgbClr val="193A37"/>
                </a:solidFill>
                <a:latin typeface="Arial"/>
                <a:ea typeface="Arial"/>
                <a:cs typeface="Arial"/>
              </a:defRPr>
            </a:pPr>
            <a:r>
              <a:rPr sz="1875" b="0">
                <a:solidFill>
                  <a:srgbClr val="193A37"/>
                </a:solidFill>
                <a:latin typeface="Arial"/>
                <a:ea typeface="Arial"/>
                <a:cs typeface="Arial"/>
              </a:rPr>
              <a:t>Can the team deploy and maintain it?</a:t>
            </a:r>
          </a:p>
        </p:txBody>
      </p:sp>
      <p:sp>
        <p:nvSpPr>
          <p:cNvPr id="8" name="pilot-resource">
            <a:extLst xmlns:a="http://schemas.openxmlformats.org/drawingml/2006/main">
              <a:ext uri="{FF2B5EF4-FFF2-40B4-BE49-F238E27FC236}">
                <a16:creationId xmlns:a16="http://schemas.microsoft.com/office/drawing/2014/main" id="{FA91E0D5-E63E-404E-904F-26A4DD635FCC}"/>
              </a:ext>
            </a:extLst>
          </p:cNvPr>
          <p:cNvSpPr>
            <a:spLocks xmlns:a="http://schemas.openxmlformats.org/drawingml/2006/main" noGrp="1"/>
          </p:cNvSpPr>
          <p:nvPr/>
        </p:nvSpPr>
        <p:spPr>
          <a:xfrm xmlns:a="http://schemas.openxmlformats.org/drawingml/2006/main">
            <a:off x="742950" y="6248400"/>
            <a:ext cx="747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650" b="0">
                <a:solidFill>
                  <a:srgbClr val="17645E"/>
                </a:solidFill>
                <a:latin typeface="Arial"/>
                <a:ea typeface="Arial"/>
                <a:cs typeface="Arial"/>
              </a:defRPr>
            </a:pPr>
            <a:r>
              <a:rPr sz="1650" b="0">
                <a:solidFill>
                  <a:srgbClr val="17645E"/>
                </a:solidFill>
                <a:latin typeface="Arial"/>
                <a:ea typeface="Arial"/>
                <a:cs typeface="Arial"/>
                <a:hlinkClick xmlns:r="http://schemas.openxmlformats.org/officeDocument/2006/relationships" r:id="R3062f235aed04155"/>
              </a:rPr>
              <a:t>Quickstart and runnable examples</a:t>
            </a:r>
          </a:p>
        </p:txBody>
      </p:sp>
    </p:spTree>
    <p:extLst>
      <p:ext uri="{BB962C8B-B14F-4D97-AF65-F5344CB8AC3E}">
        <p14:creationId xmlns:p14="http://schemas.microsoft.com/office/powerpoint/2010/main" val="2101351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2026-09-24T13:26:47.9630000Z</dcterms:created>
  <dcterms:modified xsi:type="dcterms:W3CDTF">2026-09-24T13:26:47.9630000Z</dcterms:modified>
</coreProperties>
</file>